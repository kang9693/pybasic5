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75" r:id="rId3"/>
    <p:sldId id="270" r:id="rId4"/>
    <p:sldId id="271" r:id="rId5"/>
    <p:sldId id="273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41" r:id="rId72"/>
    <p:sldId id="342" r:id="rId73"/>
    <p:sldId id="274" r:id="rId74"/>
    <p:sldId id="272" r:id="rId75"/>
    <p:sldId id="265" r:id="rId76"/>
    <p:sldId id="269" r:id="rId77"/>
    <p:sldId id="268" r:id="rId78"/>
    <p:sldId id="267" r:id="rId7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120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1884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E5E9-8CF2-4197-85B7-C803BF117DFD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8733A-D992-4A9A-B080-95B063EC944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3306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3566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34" y="145848"/>
            <a:ext cx="9030061" cy="418058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314" y="785196"/>
            <a:ext cx="9017182" cy="5289451"/>
          </a:xfrm>
        </p:spPr>
        <p:txBody>
          <a:bodyPr/>
          <a:lstStyle>
            <a:lvl1pPr>
              <a:defRPr sz="2400" b="1"/>
            </a:lvl1pPr>
            <a:lvl2pPr marL="742950" indent="-285750">
              <a:buFont typeface="Arial" pitchFamily="34" charset="0"/>
              <a:buChar char="•"/>
              <a:defRPr sz="1800"/>
            </a:lvl2pPr>
            <a:lvl3pPr>
              <a:defRPr sz="1600"/>
            </a:lvl3pPr>
            <a:lvl4pPr marL="1600200" indent="-228600">
              <a:buFont typeface="Arial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-12879" y="648793"/>
            <a:ext cx="91440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-12879" y="6322199"/>
            <a:ext cx="91440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29411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2209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1240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5826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2457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7346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5730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1489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699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06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87A43-3307-4C10-9534-8C6575870880}" type="datetimeFigureOut">
              <a:rPr lang="ko-KR" altLang="en-US" smtClean="0"/>
              <a:pPr/>
              <a:t>2017-05-29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3524-E17C-4356-AE47-6E0F62E72B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4210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정 </a:t>
            </a:r>
            <a:r>
              <a:rPr lang="ko-KR" altLang="en-US" b="1" dirty="0" err="1" smtClean="0"/>
              <a:t>규</a:t>
            </a:r>
            <a:r>
              <a:rPr lang="ko-KR" altLang="en-US" b="1" dirty="0" smtClean="0"/>
              <a:t> 식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34432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정규표현식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err="1" smtClean="0"/>
              <a:t>정규표현식</a:t>
            </a:r>
            <a:r>
              <a:rPr lang="ko-KR" altLang="en-US" dirty="0" smtClean="0"/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 smtClean="0"/>
              <a:t>정규표현식을</a:t>
            </a:r>
            <a:r>
              <a:rPr lang="ko-KR" altLang="en-US" dirty="0" smtClean="0"/>
              <a:t> 정의</a:t>
            </a:r>
            <a:r>
              <a:rPr lang="en-US" altLang="ko-KR" dirty="0" smtClean="0"/>
              <a:t>: </a:t>
            </a:r>
            <a:r>
              <a:rPr lang="ko-KR" altLang="en-US" dirty="0" smtClean="0"/>
              <a:t> 문자열에 대한 표현을 메타문자로 표시함</a:t>
            </a:r>
            <a:endParaRPr lang="en-US" altLang="ko-KR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 smtClean="0"/>
              <a:t>정규표현식을</a:t>
            </a:r>
            <a:r>
              <a:rPr lang="ko-KR" altLang="en-US" dirty="0" smtClean="0"/>
              <a:t> 실행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 실제 문자열을 넣고 정규식과 </a:t>
            </a:r>
            <a:r>
              <a:rPr lang="ko-KR" altLang="en-US" dirty="0" err="1" smtClean="0"/>
              <a:t>매칭여부</a:t>
            </a:r>
            <a:r>
              <a:rPr lang="ko-KR" altLang="en-US" dirty="0" smtClean="0"/>
              <a:t> 검증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475656" y="2794417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패턴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076056" y="2780928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문장</a:t>
            </a:r>
            <a:endParaRPr lang="ko-KR" altLang="en-US" dirty="0"/>
          </a:p>
        </p:txBody>
      </p:sp>
      <p:sp>
        <p:nvSpPr>
          <p:cNvPr id="15" name="오른쪽 화살표 14"/>
          <p:cNvSpPr/>
          <p:nvPr/>
        </p:nvSpPr>
        <p:spPr>
          <a:xfrm>
            <a:off x="3792082" y="2984149"/>
            <a:ext cx="978408" cy="4846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749489" y="236236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패턴정의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562062" y="4090561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패턴실행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패턴검색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b="0" dirty="0" smtClean="0"/>
              <a:t>&gt;&gt;&gt; import re </a:t>
            </a:r>
          </a:p>
          <a:p>
            <a:pPr>
              <a:buNone/>
            </a:pPr>
            <a:r>
              <a:rPr lang="en-US" altLang="ko-KR" b="0" dirty="0" smtClean="0"/>
              <a:t>&gt;&gt;&gt; data = """ </a:t>
            </a:r>
          </a:p>
          <a:p>
            <a:pPr>
              <a:buNone/>
            </a:pPr>
            <a:r>
              <a:rPr lang="en-US" altLang="ko-KR" b="0" dirty="0" smtClean="0"/>
              <a:t>&gt;&gt;&gt; park 800905-1049118 </a:t>
            </a:r>
          </a:p>
          <a:p>
            <a:pPr>
              <a:buNone/>
            </a:pPr>
            <a:r>
              <a:rPr lang="en-US" altLang="ko-KR" b="0" dirty="0" smtClean="0"/>
              <a:t>&gt;&gt;&gt; </a:t>
            </a:r>
            <a:r>
              <a:rPr lang="en-US" altLang="ko-KR" b="0" dirty="0" err="1" smtClean="0"/>
              <a:t>kim</a:t>
            </a:r>
            <a:r>
              <a:rPr lang="en-US" altLang="ko-KR" b="0" dirty="0" smtClean="0"/>
              <a:t> 700905-1059119 </a:t>
            </a:r>
          </a:p>
          <a:p>
            <a:pPr>
              <a:buNone/>
            </a:pPr>
            <a:r>
              <a:rPr lang="en-US" altLang="ko-KR" b="0" dirty="0" smtClean="0"/>
              <a:t>&gt;&gt;&gt; """ </a:t>
            </a:r>
          </a:p>
          <a:p>
            <a:pPr>
              <a:buNone/>
            </a:pPr>
            <a:r>
              <a:rPr lang="en-US" altLang="ko-KR" b="0" dirty="0" smtClean="0"/>
              <a:t>&gt;&gt;&gt; pat = </a:t>
            </a:r>
            <a:r>
              <a:rPr lang="en-US" altLang="ko-KR" b="0" dirty="0" err="1" smtClean="0"/>
              <a:t>re.compile</a:t>
            </a:r>
            <a:r>
              <a:rPr lang="en-US" altLang="ko-KR" b="0" dirty="0" smtClean="0"/>
              <a:t>("(\d{6})[-]\d{7}") </a:t>
            </a:r>
          </a:p>
          <a:p>
            <a:pPr>
              <a:buNone/>
            </a:pPr>
            <a:r>
              <a:rPr lang="en-US" altLang="ko-KR" b="0" dirty="0" smtClean="0"/>
              <a:t>&gt;&gt;&gt; print(pat.sub("\g&lt;1&gt;-*******", data))</a:t>
            </a:r>
            <a:endParaRPr lang="ko-KR" altLang="en-US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정규 </a:t>
            </a:r>
            <a:r>
              <a:rPr lang="ko-KR" altLang="en-US" dirty="0" err="1" smtClean="0"/>
              <a:t>표현식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정규 </a:t>
            </a:r>
            <a:r>
              <a:rPr lang="ko-KR" altLang="en-US" dirty="0" err="1" smtClean="0"/>
              <a:t>표현식의</a:t>
            </a:r>
            <a:r>
              <a:rPr lang="ko-KR" altLang="en-US" dirty="0" smtClean="0"/>
              <a:t> 기초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메타 문자</a:t>
            </a:r>
          </a:p>
          <a:p>
            <a:pPr lvl="1"/>
            <a:r>
              <a:rPr kumimoji="1" lang="ko-KR" altLang="ko-KR" b="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정규 </a:t>
            </a:r>
            <a:r>
              <a:rPr kumimoji="1" lang="ko-KR" altLang="ko-KR" b="0" dirty="0" err="1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표현식에</a:t>
            </a:r>
            <a:r>
              <a:rPr kumimoji="1" lang="ko-KR" altLang="ko-KR" b="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 위 메타 문자들이 사용되면 특별한 의미를</a:t>
            </a:r>
            <a:endParaRPr lang="ko-KR" alt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971600" y="1895927"/>
            <a:ext cx="5760640" cy="246221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1109" tIns="0" rIns="11109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 ^ $ * + ? { } [ ] \ | ( ) </a:t>
            </a: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 </a:t>
            </a:r>
            <a:endParaRPr kumimoji="1" 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정규 </a:t>
            </a:r>
            <a:r>
              <a:rPr lang="ko-KR" altLang="en-US" dirty="0" err="1" smtClean="0"/>
              <a:t>표현식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정규 </a:t>
            </a:r>
            <a:r>
              <a:rPr lang="ko-KR" altLang="en-US" dirty="0" err="1" smtClean="0"/>
              <a:t>표현식의</a:t>
            </a:r>
            <a:r>
              <a:rPr lang="ko-KR" altLang="en-US" dirty="0" smtClean="0"/>
              <a:t> 기초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메타 문자</a:t>
            </a:r>
          </a:p>
          <a:p>
            <a:pPr lvl="1"/>
            <a:r>
              <a:rPr lang="ko-KR" altLang="en-US" dirty="0" smtClean="0"/>
              <a:t>문자 클래스 </a:t>
            </a:r>
            <a:r>
              <a:rPr lang="en-US" altLang="ko-KR" dirty="0" smtClean="0"/>
              <a:t>[ ]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971600" y="1700808"/>
            <a:ext cx="2167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+mn-ea"/>
              </a:rPr>
              <a:t>ex) </a:t>
            </a:r>
            <a:r>
              <a:rPr lang="ko-KR" altLang="en-US" dirty="0" smtClean="0">
                <a:latin typeface="+mn-ea"/>
              </a:rPr>
              <a:t>문자 클래스 </a:t>
            </a:r>
            <a:r>
              <a:rPr lang="en-US" altLang="ko-KR" dirty="0" smtClean="0">
                <a:latin typeface="+mn-ea"/>
              </a:rPr>
              <a:t>[ ]</a:t>
            </a:r>
            <a:endParaRPr lang="en-US" altLang="ko-KR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03648" y="21328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[a-</a:t>
            </a:r>
            <a:r>
              <a:rPr lang="en-US" altLang="ko-KR" dirty="0" err="1" smtClean="0"/>
              <a:t>zA</a:t>
            </a:r>
            <a:r>
              <a:rPr lang="en-US" altLang="ko-KR" dirty="0" smtClean="0"/>
              <a:t>-Z] : </a:t>
            </a:r>
            <a:r>
              <a:rPr lang="ko-KR" altLang="en-US" dirty="0" smtClean="0"/>
              <a:t>알파벳 모두</a:t>
            </a:r>
          </a:p>
          <a:p>
            <a:r>
              <a:rPr lang="en-US" altLang="ko-KR" dirty="0" smtClean="0"/>
              <a:t>[0-9] : </a:t>
            </a:r>
            <a:r>
              <a:rPr lang="ko-KR" altLang="en-US" dirty="0" smtClean="0"/>
              <a:t>숫자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45067750"/>
              </p:ext>
            </p:extLst>
          </p:nvPr>
        </p:nvGraphicFramePr>
        <p:xfrm>
          <a:off x="899592" y="2852936"/>
          <a:ext cx="7416824" cy="2877440"/>
        </p:xfrm>
        <a:graphic>
          <a:graphicData uri="http://schemas.openxmlformats.org/drawingml/2006/table">
            <a:tbl>
              <a:tblPr/>
              <a:tblGrid>
                <a:gridCol w="1841927"/>
                <a:gridCol w="5574897"/>
              </a:tblGrid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 smtClean="0">
                          <a:effectLst/>
                        </a:rPr>
                        <a:t>Example</a:t>
                      </a:r>
                      <a:endParaRPr lang="en-US" sz="1300" dirty="0">
                        <a:effectLst/>
                      </a:endParaRP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Description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[Pp]</a:t>
                      </a:r>
                      <a:r>
                        <a:rPr lang="en-US" sz="1300" dirty="0" err="1">
                          <a:effectLst/>
                        </a:rPr>
                        <a:t>ython</a:t>
                      </a:r>
                      <a:endParaRPr lang="en-US" sz="1300" dirty="0">
                        <a:effectLst/>
                      </a:endParaRP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"Python" or "python"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rub[ye]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"ruby" or "rube"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>
                          <a:effectLst/>
                        </a:rPr>
                        <a:t>[aeiou]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 one lowercase vowel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300">
                          <a:effectLst/>
                        </a:rPr>
                        <a:t>[0-9]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 digit; same as [0123456789]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[a-z]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 lowercase ASCII letter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[A-Z]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 uppercase ASCII letter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[a-zA-Z0-9]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 of the above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[^</a:t>
                      </a:r>
                      <a:r>
                        <a:rPr lang="en-US" sz="1300" dirty="0" err="1">
                          <a:effectLst/>
                        </a:rPr>
                        <a:t>aeiou</a:t>
                      </a:r>
                      <a:r>
                        <a:rPr lang="en-US" sz="1300" dirty="0">
                          <a:effectLst/>
                        </a:rPr>
                        <a:t>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</a:rPr>
                        <a:t>Match anything other than a lowercase vowel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2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300" dirty="0">
                          <a:effectLst/>
                        </a:rPr>
                        <a:t>[^0-9]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anything other than a digit</a:t>
                      </a:r>
                    </a:p>
                  </a:txBody>
                  <a:tcPr marL="44812" marR="44812" marT="44812" marB="4481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축약형</a:t>
            </a:r>
            <a:r>
              <a:rPr lang="ko-KR" altLang="en-US" b="1" dirty="0" smtClean="0"/>
              <a:t> 문자표현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51520" y="764704"/>
            <a:ext cx="8229600" cy="485313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err="1"/>
              <a:t>축약형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문자표현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대문자로 </a:t>
            </a:r>
            <a:r>
              <a:rPr lang="ko-KR" altLang="en-US" sz="1800" dirty="0" err="1"/>
              <a:t>사용된것은</a:t>
            </a:r>
            <a:r>
              <a:rPr lang="ko-KR" altLang="en-US" sz="1800" dirty="0"/>
              <a:t> 소문자의 반대임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8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 smtClean="0"/>
              <a:t>\</a:t>
            </a:r>
            <a:r>
              <a:rPr lang="en-US" altLang="ko-KR" sz="1500" dirty="0"/>
              <a:t>d - </a:t>
            </a:r>
            <a:r>
              <a:rPr lang="ko-KR" altLang="en-US" sz="1500" dirty="0"/>
              <a:t>숫자와 매치</a:t>
            </a:r>
            <a:r>
              <a:rPr lang="en-US" altLang="ko-KR" sz="1500" dirty="0"/>
              <a:t>, [0-9]</a:t>
            </a:r>
            <a:r>
              <a:rPr lang="ko-KR" altLang="en-US" sz="1500" dirty="0"/>
              <a:t>와 동일한 </a:t>
            </a:r>
            <a:r>
              <a:rPr lang="ko-KR" altLang="en-US" sz="1500" dirty="0" err="1" smtClean="0"/>
              <a:t>표현식</a:t>
            </a:r>
            <a:endParaRPr lang="en-US" altLang="ko-KR" sz="15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/>
              <a:t>\D - </a:t>
            </a:r>
            <a:r>
              <a:rPr lang="ko-KR" altLang="en-US" sz="1500" dirty="0"/>
              <a:t>숫자가 </a:t>
            </a:r>
            <a:r>
              <a:rPr lang="ko-KR" altLang="en-US" sz="1500" dirty="0" err="1"/>
              <a:t>아닌것과</a:t>
            </a:r>
            <a:r>
              <a:rPr lang="ko-KR" altLang="en-US" sz="1500" dirty="0"/>
              <a:t> 매치</a:t>
            </a:r>
            <a:r>
              <a:rPr lang="en-US" altLang="ko-KR" sz="1500" dirty="0"/>
              <a:t>, [^0-9]</a:t>
            </a:r>
            <a:r>
              <a:rPr lang="ko-KR" altLang="en-US" sz="1500" dirty="0"/>
              <a:t>와 동일한 </a:t>
            </a:r>
            <a:r>
              <a:rPr lang="ko-KR" altLang="en-US" sz="1500" dirty="0" err="1" smtClean="0"/>
              <a:t>표현식</a:t>
            </a:r>
            <a:endParaRPr lang="en-US" altLang="ko-KR" sz="15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 smtClean="0"/>
              <a:t>\s</a:t>
            </a:r>
            <a:r>
              <a:rPr lang="en-US" altLang="ko-KR" sz="1500" dirty="0"/>
              <a:t> - whitespace </a:t>
            </a:r>
            <a:r>
              <a:rPr lang="ko-KR" altLang="en-US" sz="1500" dirty="0"/>
              <a:t>문자와 매치</a:t>
            </a:r>
            <a:r>
              <a:rPr lang="en-US" altLang="ko-KR" sz="1500" dirty="0"/>
              <a:t>, [ \t\n\r\f\v]</a:t>
            </a:r>
            <a:r>
              <a:rPr lang="ko-KR" altLang="en-US" sz="1500" dirty="0"/>
              <a:t>와 동일한 표현식이다</a:t>
            </a:r>
            <a:r>
              <a:rPr lang="en-US" altLang="ko-KR" sz="1500" dirty="0"/>
              <a:t>. </a:t>
            </a:r>
            <a:r>
              <a:rPr lang="ko-KR" altLang="en-US" sz="1500" dirty="0"/>
              <a:t>맨 앞의 빈칸은 공백문자</a:t>
            </a:r>
            <a:r>
              <a:rPr lang="en-US" altLang="ko-KR" sz="1500" dirty="0"/>
              <a:t>(space)</a:t>
            </a:r>
            <a:r>
              <a:rPr lang="ko-KR" altLang="en-US" sz="1500" dirty="0"/>
              <a:t>를 </a:t>
            </a:r>
            <a:r>
              <a:rPr lang="ko-KR" altLang="en-US" sz="1500" dirty="0" smtClean="0"/>
              <a:t>의미</a:t>
            </a:r>
            <a:endParaRPr lang="en-US" altLang="ko-KR" sz="15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 smtClean="0"/>
              <a:t>\S</a:t>
            </a:r>
            <a:r>
              <a:rPr lang="en-US" altLang="ko-KR" sz="1500" dirty="0"/>
              <a:t> - whitespace </a:t>
            </a:r>
            <a:r>
              <a:rPr lang="ko-KR" altLang="en-US" sz="1500" dirty="0"/>
              <a:t>문자가 </a:t>
            </a:r>
            <a:r>
              <a:rPr lang="ko-KR" altLang="en-US" sz="1500" dirty="0" smtClean="0"/>
              <a:t>아닌 것과 </a:t>
            </a:r>
            <a:r>
              <a:rPr lang="ko-KR" altLang="en-US" sz="1500" dirty="0"/>
              <a:t>매치</a:t>
            </a:r>
            <a:r>
              <a:rPr lang="en-US" altLang="ko-KR" sz="1500" dirty="0"/>
              <a:t>, [^ \t\n\r\f\v]</a:t>
            </a:r>
            <a:r>
              <a:rPr lang="ko-KR" altLang="en-US" sz="1500" dirty="0"/>
              <a:t>와 동일한 </a:t>
            </a:r>
            <a:r>
              <a:rPr lang="ko-KR" altLang="en-US" sz="1500" dirty="0" err="1" smtClean="0"/>
              <a:t>표현식</a:t>
            </a:r>
            <a:endParaRPr lang="en-US" altLang="ko-KR" sz="15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 smtClean="0"/>
              <a:t>\w</a:t>
            </a:r>
            <a:r>
              <a:rPr lang="en-US" altLang="ko-KR" sz="1500" dirty="0"/>
              <a:t> - </a:t>
            </a:r>
            <a:r>
              <a:rPr lang="ko-KR" altLang="en-US" sz="1500" dirty="0"/>
              <a:t>문자</a:t>
            </a:r>
            <a:r>
              <a:rPr lang="en-US" altLang="ko-KR" sz="1500" dirty="0"/>
              <a:t>+</a:t>
            </a:r>
            <a:r>
              <a:rPr lang="ko-KR" altLang="en-US" sz="1500" dirty="0"/>
              <a:t>숫자</a:t>
            </a:r>
            <a:r>
              <a:rPr lang="en-US" altLang="ko-KR" sz="1500" dirty="0"/>
              <a:t>(alphanumeric)</a:t>
            </a:r>
            <a:r>
              <a:rPr lang="ko-KR" altLang="en-US" sz="1500" dirty="0"/>
              <a:t>와 매치</a:t>
            </a:r>
            <a:r>
              <a:rPr lang="en-US" altLang="ko-KR" sz="1500" dirty="0"/>
              <a:t>, [a-zA-Z0-9]</a:t>
            </a:r>
            <a:r>
              <a:rPr lang="ko-KR" altLang="en-US" sz="1500" dirty="0"/>
              <a:t>와 동일한 </a:t>
            </a:r>
            <a:r>
              <a:rPr lang="ko-KR" altLang="en-US" sz="1500" dirty="0" err="1" smtClean="0"/>
              <a:t>표현식</a:t>
            </a:r>
            <a:endParaRPr lang="en-US" altLang="ko-KR" sz="15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 smtClean="0"/>
              <a:t>\W</a:t>
            </a:r>
            <a:r>
              <a:rPr lang="en-US" altLang="ko-KR" sz="1500" dirty="0"/>
              <a:t> - alphanumeric</a:t>
            </a:r>
            <a:r>
              <a:rPr lang="ko-KR" altLang="en-US" sz="1500" dirty="0"/>
              <a:t>이 아닌 문자와 매치</a:t>
            </a:r>
            <a:r>
              <a:rPr lang="en-US" altLang="ko-KR" sz="1500" dirty="0"/>
              <a:t>, [^a-zA-Z0-9]</a:t>
            </a:r>
            <a:r>
              <a:rPr lang="ko-KR" altLang="en-US" sz="1500" dirty="0"/>
              <a:t>와 동일한 </a:t>
            </a:r>
            <a:r>
              <a:rPr lang="ko-KR" altLang="en-US" sz="1500" dirty="0" err="1" smtClean="0"/>
              <a:t>표현식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xmlns="" val="108906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축약형</a:t>
            </a:r>
            <a:r>
              <a:rPr lang="ko-KR" altLang="en-US" b="1" dirty="0" smtClean="0"/>
              <a:t> 문자표현</a:t>
            </a:r>
            <a:r>
              <a:rPr lang="en-US" altLang="ko-KR" b="1" dirty="0" smtClean="0"/>
              <a:t>-</a:t>
            </a:r>
            <a:r>
              <a:rPr lang="ko-KR" altLang="en-US" b="1" dirty="0" smtClean="0"/>
              <a:t>세부</a:t>
            </a:r>
            <a:endParaRPr lang="en-US" altLang="ko-KR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26713021"/>
              </p:ext>
            </p:extLst>
          </p:nvPr>
        </p:nvGraphicFramePr>
        <p:xfrm>
          <a:off x="251520" y="908720"/>
          <a:ext cx="8136904" cy="5114230"/>
        </p:xfrm>
        <a:graphic>
          <a:graphicData uri="http://schemas.openxmlformats.org/drawingml/2006/table">
            <a:tbl>
              <a:tblPr/>
              <a:tblGrid>
                <a:gridCol w="2014852"/>
                <a:gridCol w="6122052"/>
              </a:tblGrid>
              <a:tr h="3497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Pattern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\w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word characters.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\W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</a:t>
                      </a:r>
                      <a:r>
                        <a:rPr lang="en-US" sz="1100" b="1" dirty="0" err="1">
                          <a:effectLst/>
                        </a:rPr>
                        <a:t>nonword</a:t>
                      </a:r>
                      <a:r>
                        <a:rPr lang="en-US" sz="1100" b="1" dirty="0">
                          <a:effectLst/>
                        </a:rPr>
                        <a:t> characters.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\s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whitespace. Equivalent to [\t\n\r\f].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\S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</a:t>
                      </a:r>
                      <a:r>
                        <a:rPr lang="en-US" sz="1100" b="1" dirty="0" err="1">
                          <a:effectLst/>
                        </a:rPr>
                        <a:t>nonwhitespace</a:t>
                      </a:r>
                      <a:r>
                        <a:rPr lang="en-US" sz="1100" b="1" dirty="0">
                          <a:effectLst/>
                        </a:rPr>
                        <a:t>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\d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digits. Equivalent to [0-9].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\D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</a:t>
                      </a:r>
                      <a:r>
                        <a:rPr lang="en-US" sz="1100" b="1" dirty="0" err="1">
                          <a:effectLst/>
                        </a:rPr>
                        <a:t>nondigits</a:t>
                      </a:r>
                      <a:r>
                        <a:rPr lang="en-US" sz="1100" b="1" dirty="0">
                          <a:effectLst/>
                        </a:rPr>
                        <a:t>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\A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beginning of string.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519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\Z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end of string. If a newline exists, it matches just before newline.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\z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end of string.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\G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point where last match finished.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519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\b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word boundaries when outside brackets. Matches backspace (0x08) when inside brackets.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\B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</a:t>
                      </a:r>
                      <a:r>
                        <a:rPr lang="en-US" sz="1100" b="1" dirty="0" err="1">
                          <a:effectLst/>
                        </a:rPr>
                        <a:t>nonword</a:t>
                      </a:r>
                      <a:r>
                        <a:rPr lang="en-US" sz="1100" b="1" dirty="0">
                          <a:effectLst/>
                        </a:rPr>
                        <a:t> boundaries.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dirty="0">
                          <a:effectLst/>
                        </a:rPr>
                        <a:t>\n, \t, etc.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newlines, carriage returns, tabs, etc.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54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1" dirty="0">
                          <a:effectLst/>
                        </a:rPr>
                        <a:t>\1...\9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nth grouped </a:t>
                      </a:r>
                      <a:r>
                        <a:rPr lang="en-US" sz="1100" b="1" dirty="0" err="1">
                          <a:effectLst/>
                        </a:rPr>
                        <a:t>subexpression</a:t>
                      </a:r>
                      <a:r>
                        <a:rPr lang="en-US" sz="1100" b="1" dirty="0">
                          <a:effectLst/>
                        </a:rPr>
                        <a:t>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93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1" dirty="0">
                          <a:effectLst/>
                        </a:rPr>
                        <a:t>\10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b="1" dirty="0">
                          <a:effectLst/>
                        </a:rPr>
                        <a:t>Matches nth grouped </a:t>
                      </a:r>
                      <a:r>
                        <a:rPr lang="en-US" sz="1100" b="1" dirty="0" err="1">
                          <a:effectLst/>
                        </a:rPr>
                        <a:t>subexpression</a:t>
                      </a:r>
                      <a:r>
                        <a:rPr lang="en-US" sz="1100" b="1" dirty="0">
                          <a:effectLst/>
                        </a:rPr>
                        <a:t> if it matched already. Otherwise refers to the octal representation of a character code.</a:t>
                      </a:r>
                    </a:p>
                  </a:txBody>
                  <a:tcPr marL="30789" marR="30789" marT="30789" marB="30789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9997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문자 형식과 </a:t>
            </a:r>
            <a:r>
              <a:rPr lang="ko-KR" altLang="en-US" b="1" dirty="0" err="1" smtClean="0"/>
              <a:t>축약형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매핑</a:t>
            </a:r>
            <a:endParaRPr lang="ko-KR" altLang="en-US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00341878"/>
              </p:ext>
            </p:extLst>
          </p:nvPr>
        </p:nvGraphicFramePr>
        <p:xfrm>
          <a:off x="611560" y="980728"/>
          <a:ext cx="7416825" cy="4363646"/>
        </p:xfrm>
        <a:graphic>
          <a:graphicData uri="http://schemas.openxmlformats.org/drawingml/2006/table">
            <a:tbl>
              <a:tblPr/>
              <a:tblGrid>
                <a:gridCol w="2016224"/>
                <a:gridCol w="2808312"/>
                <a:gridCol w="2592289"/>
              </a:tblGrid>
              <a:tr h="2081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Vim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ASCII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[A-Za-z0-9]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영숫자</a:t>
                      </a:r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\w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[A-Za-z0-9_]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영숫자</a:t>
                      </a:r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"_"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\W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[^A-Za-z0-9_]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낱말이 아닌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\a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</a:t>
                      </a:r>
                      <a:r>
                        <a:rPr kumimoji="0" lang="en-US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Za</a:t>
                      </a:r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-z]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알파벳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\s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 </a:t>
                      </a:r>
                      <a:r>
                        <a:rPr kumimoji="0"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\t</a:t>
                      </a:r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공백과 탭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641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\&lt; \&gt;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(?&lt;=\W)(?=\w)|(?&lt;=\w)(?=\W)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낱말 경계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[\x00-\x1F\x7F]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제어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\d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[0-9]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숫자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\D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[^0-9]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숫자가 아닌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[\x21-\x7E]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보이는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\l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[a-z]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24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\p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[\x20-\x7E]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보이는 문자 및 공백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641">
                <a:tc>
                  <a:txBody>
                    <a:bodyPr/>
                    <a:lstStyle/>
                    <a:p>
                      <a:pPr marL="0" algn="ctr" rtl="0" eaLnBrk="1" latinLnBrk="1" hangingPunct="1"/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[][!"#$%&amp;'()*+,./:;&lt;=&gt;?@\^_`{|}~-]</a:t>
                      </a:r>
                      <a:endParaRPr kumimoji="0"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구두점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24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\_s (</a:t>
                      </a:r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단순히 줄 끝에 추가</a:t>
                      </a:r>
                      <a:r>
                        <a:rPr kumimoji="0"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 \t\r\n\v\f]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공백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248">
                <a:tc>
                  <a:txBody>
                    <a:bodyPr/>
                    <a:lstStyle/>
                    <a:p>
                      <a:pPr marL="0" algn="ctr" rtl="0" eaLnBrk="1" latinLnBrk="1" hangingPunct="1"/>
                      <a:endParaRPr kumimoji="0"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[^ \t\r\n\v\f]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공백이 아닌 모든 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\u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[A-Z]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대문자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138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\x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[A-Fa-f0-9]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kumimoji="0"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kumimoji="0"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진수</a:t>
                      </a:r>
                    </a:p>
                  </a:txBody>
                  <a:tcPr marL="35085" marR="35085" marT="17542" marB="17542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6788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축약형</a:t>
            </a:r>
            <a:r>
              <a:rPr lang="ko-KR" altLang="en-US" b="1" dirty="0" smtClean="0"/>
              <a:t> 문자표현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예시</a:t>
            </a:r>
            <a:endParaRPr lang="ko-KR" altLang="en-US" b="1" dirty="0"/>
          </a:p>
        </p:txBody>
      </p:sp>
      <p:sp>
        <p:nvSpPr>
          <p:cNvPr id="3" name="직사각형 2"/>
          <p:cNvSpPr/>
          <p:nvPr/>
        </p:nvSpPr>
        <p:spPr>
          <a:xfrm>
            <a:off x="683568" y="2420888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"(d\w+)\W(d\w+)"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5856" y="2474066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 </a:t>
            </a:r>
            <a:r>
              <a:rPr lang="en-US" altLang="ko-KR" sz="1200" dirty="0" smtClean="0"/>
              <a:t>     : </a:t>
            </a:r>
            <a:r>
              <a:rPr lang="ko-KR" altLang="en-US" sz="1200" dirty="0" smtClean="0"/>
              <a:t>알파벳소문자</a:t>
            </a:r>
            <a:endParaRPr lang="en-US" altLang="ko-KR" sz="1200" dirty="0" smtClean="0"/>
          </a:p>
          <a:p>
            <a:r>
              <a:rPr lang="en-US" altLang="ko-KR" sz="1200" dirty="0" smtClean="0"/>
              <a:t>\</a:t>
            </a:r>
            <a:r>
              <a:rPr lang="en-US" altLang="ko-KR" sz="1200" dirty="0"/>
              <a:t>w</a:t>
            </a:r>
            <a:r>
              <a:rPr lang="en-US" altLang="ko-KR" sz="1200" dirty="0" smtClean="0"/>
              <a:t>+ : </a:t>
            </a:r>
            <a:r>
              <a:rPr lang="ko-KR" altLang="en-US" sz="1200" dirty="0" smtClean="0"/>
              <a:t>하나 이상의 문자</a:t>
            </a:r>
            <a:endParaRPr lang="en-US" altLang="ko-KR" sz="1200" dirty="0" smtClean="0"/>
          </a:p>
          <a:p>
            <a:r>
              <a:rPr lang="en-US" altLang="ko-KR" sz="1200" dirty="0" smtClean="0"/>
              <a:t>\</a:t>
            </a:r>
            <a:r>
              <a:rPr lang="en-US" altLang="ko-KR" sz="1200" dirty="0"/>
              <a:t>W  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문자가 아닌 캐릭터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98884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["dog dot", "do don't", "dumb-dumb", "no match"]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4460" y="335699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('dog', 'dot') ('do', 'don') ('dumb', 'dumb') 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sz="quarter" idx="1"/>
          </p:nvPr>
        </p:nvSpPr>
        <p:spPr>
          <a:xfrm>
            <a:off x="395536" y="836712"/>
            <a:ext cx="8229600" cy="154076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600" dirty="0" smtClean="0">
                <a:latin typeface="+mn-ea"/>
              </a:rPr>
              <a:t>알파벳 소문자 </a:t>
            </a:r>
            <a:r>
              <a:rPr lang="en-US" altLang="ko-KR" sz="1600" dirty="0" smtClean="0">
                <a:latin typeface="+mn-ea"/>
              </a:rPr>
              <a:t>d </a:t>
            </a:r>
            <a:r>
              <a:rPr lang="ko-KR" altLang="en-US" sz="1600" dirty="0" smtClean="0">
                <a:latin typeface="+mn-ea"/>
              </a:rPr>
              <a:t>로 시작하고 하나이상의 </a:t>
            </a:r>
            <a:r>
              <a:rPr lang="ko-KR" altLang="en-US" sz="1600" dirty="0" err="1" smtClean="0">
                <a:latin typeface="+mn-ea"/>
              </a:rPr>
              <a:t>문자스트링</a:t>
            </a:r>
            <a:r>
              <a:rPr lang="ko-KR" altLang="en-US" sz="1600" dirty="0" smtClean="0">
                <a:latin typeface="+mn-ea"/>
              </a:rPr>
              <a:t> 그룹</a:t>
            </a:r>
            <a:r>
              <a:rPr lang="en-US" altLang="ko-KR" sz="1600" dirty="0" smtClean="0">
                <a:latin typeface="+mn-ea"/>
              </a:rPr>
              <a:t>+</a:t>
            </a:r>
            <a:r>
              <a:rPr lang="ko-KR" altLang="en-US" sz="1600" dirty="0" smtClean="0">
                <a:latin typeface="+mn-ea"/>
              </a:rPr>
              <a:t>알파벳문자가 </a:t>
            </a:r>
            <a:endParaRPr lang="en-US" altLang="ko-KR" sz="1600" dirty="0" smtClean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600" dirty="0" smtClean="0">
                <a:latin typeface="+mn-ea"/>
              </a:rPr>
              <a:t>아닌 문자</a:t>
            </a:r>
            <a:r>
              <a:rPr lang="en-US" altLang="ko-KR" sz="1600" dirty="0" smtClean="0">
                <a:latin typeface="+mn-ea"/>
              </a:rPr>
              <a:t>+</a:t>
            </a:r>
            <a:r>
              <a:rPr lang="ko-KR" altLang="en-US" sz="1600" dirty="0" smtClean="0">
                <a:latin typeface="+mn-ea"/>
              </a:rPr>
              <a:t>알파벳 소문자로 시작하는 하나이상의 </a:t>
            </a:r>
            <a:r>
              <a:rPr lang="ko-KR" altLang="en-US" sz="1600" dirty="0" err="1" smtClean="0">
                <a:latin typeface="+mn-ea"/>
              </a:rPr>
              <a:t>스트링</a:t>
            </a:r>
            <a:r>
              <a:rPr lang="ko-KR" altLang="en-US" sz="1600" dirty="0" smtClean="0">
                <a:latin typeface="+mn-ea"/>
              </a:rPr>
              <a:t> 그룹 으로 구성 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054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Anchor </a:t>
            </a:r>
            <a:r>
              <a:rPr lang="en-US" altLang="ko-KR" b="1" dirty="0" smtClean="0"/>
              <a:t>(^ / $)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95536" y="908720"/>
            <a:ext cx="8229600" cy="211683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/>
              <a:t>^</a:t>
            </a:r>
            <a:endParaRPr lang="en-US" altLang="ko-KR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b="0" dirty="0" smtClean="0"/>
              <a:t>문자열의 </a:t>
            </a:r>
            <a:r>
              <a:rPr lang="ko-KR" altLang="en-US" sz="1800" b="0" dirty="0"/>
              <a:t>맨 처음과 일치함을 </a:t>
            </a:r>
            <a:r>
              <a:rPr lang="ko-KR" altLang="en-US" sz="1800" b="0" dirty="0" smtClean="0"/>
              <a:t>의미</a:t>
            </a:r>
            <a:endParaRPr lang="en-US" altLang="ko-KR" sz="1800" b="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b="0" dirty="0"/>
              <a:t>컴파일 옵션 </a:t>
            </a:r>
            <a:r>
              <a:rPr lang="en-US" altLang="ko-KR" sz="1800" b="0" dirty="0" err="1"/>
              <a:t>re.MULTILINE</a:t>
            </a:r>
            <a:r>
              <a:rPr lang="ko-KR" altLang="en-US" sz="1800" b="0" dirty="0"/>
              <a:t> 을 사용할 경우에는 </a:t>
            </a:r>
            <a:r>
              <a:rPr lang="ko-KR" altLang="en-US" sz="1800" b="0" dirty="0" err="1"/>
              <a:t>여러줄의</a:t>
            </a:r>
            <a:r>
              <a:rPr lang="ko-KR" altLang="en-US" sz="1800" b="0" dirty="0"/>
              <a:t> 문자열에서는 각 라인의 처음과 </a:t>
            </a:r>
            <a:r>
              <a:rPr lang="ko-KR" altLang="en-US" sz="1800" b="0" dirty="0" smtClean="0"/>
              <a:t>일치</a:t>
            </a:r>
            <a:endParaRPr lang="en-US" altLang="ko-KR" sz="1800" b="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b="0" dirty="0"/>
              <a:t>^</a:t>
            </a:r>
            <a:r>
              <a:rPr lang="ko-KR" altLang="en-US" sz="1800" b="0" dirty="0"/>
              <a:t> </a:t>
            </a:r>
            <a:r>
              <a:rPr lang="ko-KR" altLang="en-US" sz="1800" b="0" dirty="0" smtClean="0"/>
              <a:t>문자를 </a:t>
            </a:r>
            <a:r>
              <a:rPr lang="ko-KR" altLang="en-US" sz="1800" b="0" dirty="0"/>
              <a:t>메타문자가 아닌 문자 그 자체로 매치하고 싶은 경우에는 </a:t>
            </a:r>
            <a:r>
              <a:rPr lang="en-US" altLang="ko-KR" sz="1800" b="0" dirty="0" smtClean="0"/>
              <a:t>[^] </a:t>
            </a:r>
            <a:r>
              <a:rPr lang="ko-KR" altLang="en-US" sz="1800" b="0" dirty="0" smtClean="0"/>
              <a:t>처럼 </a:t>
            </a:r>
            <a:r>
              <a:rPr lang="ko-KR" altLang="en-US" sz="1800" b="0" dirty="0"/>
              <a:t>사용하거나 </a:t>
            </a:r>
            <a:r>
              <a:rPr lang="en-US" altLang="ko-KR" sz="1800" b="0" dirty="0" smtClean="0"/>
              <a:t>\^</a:t>
            </a:r>
            <a:r>
              <a:rPr lang="ko-KR" altLang="en-US" sz="1800" b="0" dirty="0"/>
              <a:t> 로 </a:t>
            </a:r>
            <a:r>
              <a:rPr lang="ko-KR" altLang="en-US" sz="1800" b="0" dirty="0" smtClean="0"/>
              <a:t>사용</a:t>
            </a:r>
            <a:endParaRPr lang="en-US" altLang="ko-KR" sz="1800" b="0" dirty="0" smtClean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77888" y="3817639"/>
            <a:ext cx="8229600" cy="20246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/>
              <a:t>$</a:t>
            </a:r>
            <a:r>
              <a:rPr lang="ko-KR" altLang="en-US" sz="1800" dirty="0" smtClean="0"/>
              <a:t> 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문자열의 맨 마지막부터 일치함을 의미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$</a:t>
            </a:r>
            <a:r>
              <a:rPr lang="ko-KR" altLang="en-US" sz="1800" dirty="0" smtClean="0"/>
              <a:t> 문자를 메타문자가 아닌 문자 그 자체로 매치하고 싶은 경우에는 </a:t>
            </a:r>
            <a:r>
              <a:rPr lang="en-US" altLang="ko-KR" sz="1800" dirty="0" smtClean="0"/>
              <a:t>[$]</a:t>
            </a:r>
            <a:r>
              <a:rPr lang="ko-KR" altLang="en-US" sz="1800" dirty="0" smtClean="0"/>
              <a:t> 처럼 사용하거나 </a:t>
            </a:r>
            <a:r>
              <a:rPr lang="en-US" altLang="ko-KR" sz="1800" dirty="0" smtClean="0"/>
              <a:t>\$</a:t>
            </a:r>
            <a:r>
              <a:rPr lang="ko-KR" altLang="en-US" sz="1800" dirty="0" smtClean="0"/>
              <a:t> 로 사용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256423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Anchor </a:t>
            </a:r>
            <a:r>
              <a:rPr lang="ko-KR" altLang="en-US" b="1" dirty="0" smtClean="0"/>
              <a:t>처리 예시</a:t>
            </a:r>
            <a:endParaRPr lang="ko-KR" altLang="en-US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83510362"/>
              </p:ext>
            </p:extLst>
          </p:nvPr>
        </p:nvGraphicFramePr>
        <p:xfrm>
          <a:off x="467544" y="1412776"/>
          <a:ext cx="7272808" cy="3347873"/>
        </p:xfrm>
        <a:graphic>
          <a:graphicData uri="http://schemas.openxmlformats.org/drawingml/2006/table">
            <a:tbl>
              <a:tblPr/>
              <a:tblGrid>
                <a:gridCol w="1806162"/>
                <a:gridCol w="5466646"/>
              </a:tblGrid>
              <a:tr h="2149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Example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dirty="0">
                          <a:effectLst/>
                        </a:rPr>
                        <a:t>Description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^Python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 at the start of a string or internal line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Python$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 at the end of a string or line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\</a:t>
                      </a:r>
                      <a:r>
                        <a:rPr lang="en-US" sz="1300" dirty="0" err="1">
                          <a:effectLst/>
                        </a:rPr>
                        <a:t>APython</a:t>
                      </a:r>
                      <a:endParaRPr lang="en-US" sz="1300" dirty="0">
                        <a:effectLst/>
                      </a:endParaRP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 at the start of a string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Python\Z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 at the end of a string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\</a:t>
                      </a:r>
                      <a:r>
                        <a:rPr lang="en-US" sz="1300" dirty="0" err="1">
                          <a:effectLst/>
                        </a:rPr>
                        <a:t>bPython</a:t>
                      </a:r>
                      <a:r>
                        <a:rPr lang="en-US" sz="1300" dirty="0">
                          <a:effectLst/>
                        </a:rPr>
                        <a:t>\b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 at a word boundary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475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\</a:t>
                      </a:r>
                      <a:r>
                        <a:rPr lang="en-US" sz="1300" dirty="0" err="1">
                          <a:effectLst/>
                        </a:rPr>
                        <a:t>brub</a:t>
                      </a:r>
                      <a:r>
                        <a:rPr lang="en-US" sz="1300" dirty="0">
                          <a:effectLst/>
                        </a:rPr>
                        <a:t>\B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\B is </a:t>
                      </a:r>
                      <a:r>
                        <a:rPr lang="en-US" sz="1300" dirty="0" err="1">
                          <a:effectLst/>
                        </a:rPr>
                        <a:t>nonword</a:t>
                      </a:r>
                      <a:r>
                        <a:rPr lang="en-US" sz="1300" dirty="0">
                          <a:effectLst/>
                        </a:rPr>
                        <a:t> boundary: match "rub" in "rube" and "ruby" but not alone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Python(?=!)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"Python", if followed by an exclamation point.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92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Python(?!!)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</a:rPr>
                        <a:t>Match "Python", if not followed by an exclamation point.</a:t>
                      </a:r>
                    </a:p>
                  </a:txBody>
                  <a:tcPr marL="45717" marR="45717" marT="45717" marB="4571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내용 개체 틀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229600" cy="89269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특정 위치를 고정하여 처리할 경우 사용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423843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DOT(.)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24048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dot(.) </a:t>
            </a:r>
            <a:r>
              <a:rPr lang="ko-KR" altLang="en-US" sz="1800" dirty="0"/>
              <a:t>메타문자는 </a:t>
            </a:r>
            <a:r>
              <a:rPr lang="ko-KR" altLang="en-US" sz="1800" dirty="0" err="1"/>
              <a:t>줄바꿈</a:t>
            </a:r>
            <a:r>
              <a:rPr lang="ko-KR" altLang="en-US" sz="1800" dirty="0"/>
              <a:t> 문자인 </a:t>
            </a:r>
            <a:r>
              <a:rPr lang="en-US" altLang="ko-KR" sz="1800" dirty="0"/>
              <a:t>\n</a:t>
            </a:r>
            <a:r>
              <a:rPr lang="ko-KR" altLang="en-US" sz="1800" dirty="0"/>
              <a:t>를 제외한 모든 문자와 </a:t>
            </a:r>
            <a:r>
              <a:rPr lang="ko-KR" altLang="en-US" sz="1800" dirty="0" smtClean="0"/>
              <a:t>매치</a:t>
            </a:r>
            <a:r>
              <a:rPr lang="en-US" altLang="ko-KR" sz="1800" dirty="0" smtClean="0"/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err="1"/>
              <a:t>re.DOTALL</a:t>
            </a:r>
            <a:r>
              <a:rPr lang="ko-KR" altLang="en-US" sz="1800" dirty="0"/>
              <a:t> 이라는 옵션을 주면 </a:t>
            </a:r>
            <a:r>
              <a:rPr lang="en-US" altLang="ko-KR" sz="1800" dirty="0"/>
              <a:t>\n</a:t>
            </a:r>
            <a:r>
              <a:rPr lang="ko-KR" altLang="en-US" sz="1800" dirty="0"/>
              <a:t>문자와도 </a:t>
            </a:r>
            <a:r>
              <a:rPr lang="ko-KR" altLang="en-US" sz="1800" dirty="0" smtClean="0"/>
              <a:t>매치의미</a:t>
            </a:r>
            <a:endParaRPr lang="en-US" altLang="ko-KR" sz="1800" dirty="0" smtClean="0"/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/>
              <a:t> </a:t>
            </a:r>
            <a:r>
              <a:rPr lang="en-US" altLang="ko-KR" sz="1500" dirty="0" err="1"/>
              <a:t>a.b</a:t>
            </a:r>
            <a:r>
              <a:rPr lang="en-US" altLang="ko-KR" sz="1500" dirty="0"/>
              <a:t> :  </a:t>
            </a:r>
            <a:r>
              <a:rPr lang="en-US" altLang="ko-KR" sz="1600" dirty="0"/>
              <a:t>"a + </a:t>
            </a:r>
            <a:r>
              <a:rPr lang="ko-KR" altLang="en-US" sz="1600" dirty="0" err="1"/>
              <a:t>모든문자</a:t>
            </a:r>
            <a:r>
              <a:rPr lang="ko-KR" altLang="en-US" sz="1600" dirty="0"/>
              <a:t> </a:t>
            </a:r>
            <a:r>
              <a:rPr lang="en-US" altLang="ko-KR" sz="1600" dirty="0"/>
              <a:t>+ </a:t>
            </a:r>
            <a:r>
              <a:rPr lang="en-US" altLang="ko-KR" sz="1600" dirty="0" smtClean="0"/>
              <a:t>b“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 </a:t>
            </a:r>
            <a:r>
              <a:rPr lang="en-US" altLang="ko-KR" sz="1600" dirty="0"/>
              <a:t>a[.]b </a:t>
            </a:r>
            <a:r>
              <a:rPr lang="en-US" altLang="ko-KR" sz="1600" dirty="0" smtClean="0"/>
              <a:t> : "</a:t>
            </a:r>
            <a:r>
              <a:rPr lang="en-US" altLang="ko-KR" sz="1600" dirty="0"/>
              <a:t>a + Dot(.)</a:t>
            </a:r>
            <a:r>
              <a:rPr lang="ko-KR" altLang="en-US" sz="1600" dirty="0"/>
              <a:t>문자 </a:t>
            </a:r>
            <a:r>
              <a:rPr lang="en-US" altLang="ko-KR" sz="1600" dirty="0"/>
              <a:t>+ b</a:t>
            </a:r>
            <a:r>
              <a:rPr lang="en-US" altLang="ko-KR" sz="1600" dirty="0" smtClean="0"/>
              <a:t>"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xmlns="" val="198894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백슬래시</a:t>
            </a:r>
            <a:r>
              <a:rPr lang="en-US" altLang="ko-KR" b="1" dirty="0"/>
              <a:t>(\) </a:t>
            </a:r>
            <a:r>
              <a:rPr lang="ko-KR" altLang="en-US" b="1" dirty="0"/>
              <a:t>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290891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“\section” : </a:t>
            </a:r>
            <a:r>
              <a:rPr lang="ko-KR" altLang="en-US" sz="1800" dirty="0" smtClean="0"/>
              <a:t>이 </a:t>
            </a:r>
            <a:r>
              <a:rPr lang="ko-KR" altLang="en-US" sz="1800" dirty="0"/>
              <a:t>정규식은 </a:t>
            </a:r>
            <a:r>
              <a:rPr lang="en-US" altLang="ko-KR" sz="1800" dirty="0"/>
              <a:t>\s </a:t>
            </a:r>
            <a:r>
              <a:rPr lang="ko-KR" altLang="en-US" sz="1800" dirty="0"/>
              <a:t>문자가 </a:t>
            </a:r>
            <a:r>
              <a:rPr lang="en-US" altLang="ko-KR" sz="1800" dirty="0"/>
              <a:t>whitespace</a:t>
            </a:r>
            <a:r>
              <a:rPr lang="ko-KR" altLang="en-US" sz="1800" dirty="0"/>
              <a:t>로 </a:t>
            </a:r>
            <a:r>
              <a:rPr lang="ko-KR" altLang="en-US" sz="1800" dirty="0" smtClean="0"/>
              <a:t>해석되어 </a:t>
            </a:r>
            <a:r>
              <a:rPr lang="en-US" altLang="ko-KR" sz="1800" dirty="0"/>
              <a:t>[ \</a:t>
            </a:r>
            <a:r>
              <a:rPr lang="en-US" altLang="ko-KR" sz="1800" dirty="0" smtClean="0"/>
              <a:t>t\n\r\f\v]</a:t>
            </a:r>
            <a:r>
              <a:rPr lang="en-US" altLang="ko-KR" sz="1800" dirty="0" err="1" smtClean="0"/>
              <a:t>ection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동일한 의미</a:t>
            </a:r>
            <a:endParaRPr lang="ko-KR" altLang="en-US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“\\section” </a:t>
            </a:r>
            <a:r>
              <a:rPr lang="en-US" altLang="ko-KR" sz="1800" dirty="0"/>
              <a:t>: </a:t>
            </a:r>
            <a:r>
              <a:rPr lang="ko-KR" altLang="en-US" sz="1800" dirty="0" err="1" smtClean="0"/>
              <a:t>파이썬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문자열 </a:t>
            </a:r>
            <a:r>
              <a:rPr lang="ko-KR" altLang="en-US" sz="1800" dirty="0" err="1"/>
              <a:t>리터럴</a:t>
            </a:r>
            <a:r>
              <a:rPr lang="ko-KR" altLang="en-US" sz="1800" dirty="0"/>
              <a:t> 규칙에 의하여 </a:t>
            </a:r>
            <a:r>
              <a:rPr lang="en-US" altLang="ko-KR" sz="1800" dirty="0" smtClean="0"/>
              <a:t>\</a:t>
            </a:r>
            <a:r>
              <a:rPr lang="ko-KR" altLang="en-US" sz="1800" dirty="0" smtClean="0"/>
              <a:t>이</a:t>
            </a:r>
            <a:r>
              <a:rPr lang="ko-KR" altLang="en-US" sz="1800" dirty="0"/>
              <a:t> </a:t>
            </a:r>
            <a:r>
              <a:rPr lang="en-US" altLang="ko-KR" sz="1800" dirty="0" smtClean="0"/>
              <a:t>\</a:t>
            </a:r>
            <a:r>
              <a:rPr lang="en-US" altLang="ko-KR" sz="1800" dirty="0"/>
              <a:t>\</a:t>
            </a:r>
            <a:r>
              <a:rPr lang="ko-KR" altLang="en-US" sz="1800" dirty="0" smtClean="0"/>
              <a:t>로 변경</a:t>
            </a:r>
            <a:endParaRPr lang="en-US" altLang="ko-KR" sz="18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ko-KR" sz="1500" dirty="0"/>
              <a:t>\\</a:t>
            </a:r>
            <a:r>
              <a:rPr lang="ko-KR" altLang="en-US" sz="1500" dirty="0"/>
              <a:t> 문자를 전달하려면 </a:t>
            </a:r>
            <a:r>
              <a:rPr lang="ko-KR" altLang="en-US" sz="1500" dirty="0" err="1"/>
              <a:t>파이썬은</a:t>
            </a:r>
            <a:r>
              <a:rPr lang="ko-KR" altLang="en-US" sz="1500" dirty="0"/>
              <a:t> </a:t>
            </a:r>
            <a:r>
              <a:rPr lang="en-US" altLang="ko-KR" sz="1500" dirty="0"/>
              <a:t>\\\\</a:t>
            </a:r>
            <a:r>
              <a:rPr lang="ko-KR" altLang="en-US" sz="1500" dirty="0"/>
              <a:t> 처럼 백슬래시를 </a:t>
            </a:r>
            <a:r>
              <a:rPr lang="en-US" altLang="ko-KR" sz="1500" dirty="0"/>
              <a:t>4</a:t>
            </a:r>
            <a:r>
              <a:rPr lang="ko-KR" altLang="en-US" sz="1500" dirty="0"/>
              <a:t>개나 </a:t>
            </a:r>
            <a:r>
              <a:rPr lang="ko-KR" altLang="en-US" sz="1500" dirty="0" smtClean="0"/>
              <a:t>사용</a:t>
            </a:r>
            <a:endParaRPr lang="en-US" altLang="ko-KR" sz="15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r”\section” : Raw </a:t>
            </a:r>
            <a:r>
              <a:rPr lang="en-US" altLang="ko-KR" sz="1800" dirty="0"/>
              <a:t>String </a:t>
            </a:r>
            <a:r>
              <a:rPr lang="ko-KR" altLang="en-US" sz="1800" dirty="0"/>
              <a:t>규칙에 의하여 백슬래시 </a:t>
            </a:r>
            <a:r>
              <a:rPr lang="ko-KR" altLang="en-US" sz="1800" dirty="0" err="1"/>
              <a:t>두개</a:t>
            </a:r>
            <a:r>
              <a:rPr lang="ko-KR" altLang="en-US" sz="1800" dirty="0"/>
              <a:t> 대신 </a:t>
            </a:r>
            <a:r>
              <a:rPr lang="ko-KR" altLang="en-US" sz="1800" dirty="0" err="1"/>
              <a:t>한개만</a:t>
            </a:r>
            <a:r>
              <a:rPr lang="ko-KR" altLang="en-US" sz="1800" dirty="0"/>
              <a:t> 써도 </a:t>
            </a:r>
            <a:r>
              <a:rPr lang="ko-KR" altLang="en-US" sz="1800" dirty="0" err="1"/>
              <a:t>두개를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쓴것과</a:t>
            </a:r>
            <a:r>
              <a:rPr lang="ko-KR" altLang="en-US" sz="1800" dirty="0"/>
              <a:t> 동일한 </a:t>
            </a:r>
            <a:r>
              <a:rPr lang="ko-KR" altLang="en-US" sz="1800" dirty="0" smtClean="0"/>
              <a:t>의미</a:t>
            </a: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1289186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Alternatives</a:t>
            </a:r>
            <a:r>
              <a:rPr lang="en-US" altLang="ko-KR" b="1" dirty="0" smtClean="0"/>
              <a:t> (|,or)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10871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|</a:t>
            </a:r>
            <a:r>
              <a:rPr lang="ko-KR" altLang="en-US" sz="1800" dirty="0"/>
              <a:t> 메타문자는 </a:t>
            </a:r>
            <a:r>
              <a:rPr lang="en-US" altLang="ko-KR" sz="1800" dirty="0"/>
              <a:t>"or"</a:t>
            </a:r>
            <a:r>
              <a:rPr lang="ko-KR" altLang="en-US" sz="1800" dirty="0"/>
              <a:t>의 의미와 </a:t>
            </a:r>
            <a:r>
              <a:rPr lang="ko-KR" altLang="en-US" sz="1800" dirty="0" smtClean="0"/>
              <a:t>동일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A|B</a:t>
            </a:r>
            <a:r>
              <a:rPr lang="ko-KR" altLang="en-US" sz="1800" dirty="0"/>
              <a:t> 라는 정규식이 있다면 이것은 </a:t>
            </a:r>
            <a:r>
              <a:rPr lang="en-US" altLang="ko-KR" sz="1800" dirty="0"/>
              <a:t>A </a:t>
            </a:r>
            <a:r>
              <a:rPr lang="ko-KR" altLang="en-US" sz="1800" dirty="0"/>
              <a:t>또는 </a:t>
            </a:r>
            <a:r>
              <a:rPr lang="en-US" altLang="ko-KR" sz="1800" dirty="0"/>
              <a:t>B</a:t>
            </a:r>
            <a:r>
              <a:rPr lang="ko-KR" altLang="en-US" sz="1800" dirty="0"/>
              <a:t>라는 </a:t>
            </a:r>
            <a:r>
              <a:rPr lang="ko-KR" altLang="en-US" sz="1800" dirty="0" smtClean="0"/>
              <a:t>의미</a:t>
            </a:r>
            <a:endParaRPr lang="en-US" altLang="ko-KR" sz="1800" dirty="0"/>
          </a:p>
          <a:p>
            <a:pPr marL="365760" lvl="1" indent="0">
              <a:lnSpc>
                <a:spcPct val="120000"/>
              </a:lnSpc>
              <a:buNone/>
            </a:pPr>
            <a:endParaRPr lang="en-US" altLang="ko-KR" sz="1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02028104"/>
              </p:ext>
            </p:extLst>
          </p:nvPr>
        </p:nvGraphicFramePr>
        <p:xfrm>
          <a:off x="755576" y="2929880"/>
          <a:ext cx="7488832" cy="1219200"/>
        </p:xfrm>
        <a:graphic>
          <a:graphicData uri="http://schemas.openxmlformats.org/drawingml/2006/table">
            <a:tbl>
              <a:tblPr/>
              <a:tblGrid>
                <a:gridCol w="1859810"/>
                <a:gridCol w="5629022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python|perl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Match "python" or "</a:t>
                      </a:r>
                      <a:r>
                        <a:rPr lang="en-US" sz="1200" dirty="0" err="1">
                          <a:effectLst/>
                        </a:rPr>
                        <a:t>perl</a:t>
                      </a:r>
                      <a:r>
                        <a:rPr lang="en-US" sz="1200" dirty="0">
                          <a:effectLst/>
                        </a:rPr>
                        <a:t>"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rub(y|le))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Match "ruby" or "ruble"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Python(!+|\?)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"Python" followed by one or more ! or one ?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1711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2060848"/>
            <a:ext cx="7772400" cy="1362075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수량자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5774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반복 </a:t>
            </a:r>
            <a:r>
              <a:rPr lang="en-US" altLang="ko-KR" b="1" dirty="0"/>
              <a:t>({</a:t>
            </a:r>
            <a:r>
              <a:rPr lang="en-US" altLang="ko-KR" b="1" dirty="0" err="1"/>
              <a:t>m,n</a:t>
            </a:r>
            <a:r>
              <a:rPr lang="en-US" altLang="ko-KR" b="1" dirty="0" smtClean="0"/>
              <a:t>})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872101"/>
            <a:ext cx="8229600" cy="125273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{}</a:t>
            </a:r>
            <a:r>
              <a:rPr lang="ko-KR" altLang="en-US" sz="1800" dirty="0"/>
              <a:t> 메타문자를 이용하면 반복횟수를 </a:t>
            </a:r>
            <a:r>
              <a:rPr lang="ko-KR" altLang="en-US" sz="1800" dirty="0" smtClean="0"/>
              <a:t>고정시킬 </a:t>
            </a:r>
            <a:r>
              <a:rPr lang="ko-KR" altLang="en-US" sz="1800" dirty="0"/>
              <a:t>수 있다</a:t>
            </a:r>
            <a:r>
              <a:rPr lang="en-US" altLang="ko-KR" sz="1800" dirty="0"/>
              <a:t>. {m, n}</a:t>
            </a:r>
            <a:r>
              <a:rPr lang="ko-KR" altLang="en-US" sz="1800" dirty="0"/>
              <a:t> 정규식을 사용하면 반복횟수가 </a:t>
            </a:r>
            <a:r>
              <a:rPr lang="en-US" altLang="ko-KR" sz="1800" dirty="0"/>
              <a:t>m</a:t>
            </a:r>
            <a:r>
              <a:rPr lang="ko-KR" altLang="en-US" sz="1800" dirty="0"/>
              <a:t>부터 </a:t>
            </a:r>
            <a:r>
              <a:rPr lang="en-US" altLang="ko-KR" sz="1800" dirty="0"/>
              <a:t>n</a:t>
            </a:r>
            <a:r>
              <a:rPr lang="ko-KR" altLang="en-US" sz="1800" dirty="0" err="1"/>
              <a:t>인것을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매치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{1</a:t>
            </a:r>
            <a:r>
              <a:rPr lang="en-US" altLang="ko-KR" sz="1800" dirty="0"/>
              <a:t>,}</a:t>
            </a:r>
            <a:r>
              <a:rPr lang="ko-KR" altLang="en-US" sz="1800" dirty="0"/>
              <a:t>은 </a:t>
            </a:r>
            <a:r>
              <a:rPr lang="en-US" altLang="ko-KR" sz="1800" dirty="0"/>
              <a:t>+</a:t>
            </a:r>
            <a:r>
              <a:rPr lang="ko-KR" altLang="en-US" sz="1800" dirty="0"/>
              <a:t>와 동일하며 </a:t>
            </a:r>
            <a:r>
              <a:rPr lang="en-US" altLang="ko-KR" sz="1800" dirty="0"/>
              <a:t>{0,}</a:t>
            </a:r>
            <a:r>
              <a:rPr lang="ko-KR" altLang="en-US" sz="1800" dirty="0"/>
              <a:t>은 *와 동일</a:t>
            </a:r>
            <a:endParaRPr lang="en-US" altLang="ko-KR" sz="18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31032368"/>
              </p:ext>
            </p:extLst>
          </p:nvPr>
        </p:nvGraphicFramePr>
        <p:xfrm>
          <a:off x="467544" y="2628892"/>
          <a:ext cx="8153400" cy="2960348"/>
        </p:xfrm>
        <a:graphic>
          <a:graphicData uri="http://schemas.openxmlformats.org/drawingml/2006/table">
            <a:tbl>
              <a:tblPr/>
              <a:tblGrid>
                <a:gridCol w="1438945"/>
                <a:gridCol w="1584176"/>
                <a:gridCol w="2016224"/>
                <a:gridCol w="3114055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Match </a:t>
                      </a:r>
                      <a:r>
                        <a:rPr lang="ko-KR" altLang="en-US" sz="1800" b="1" dirty="0">
                          <a:effectLst/>
                        </a:rPr>
                        <a:t>여부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ca{2}t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No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"a"</a:t>
                      </a:r>
                      <a:r>
                        <a:rPr lang="ko-KR" altLang="en-US" sz="1800" dirty="0"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effectLst/>
                        </a:rPr>
                        <a:t>1</a:t>
                      </a:r>
                      <a:r>
                        <a:rPr lang="ko-KR" altLang="en-US" sz="1800" dirty="0">
                          <a:effectLst/>
                        </a:rPr>
                        <a:t>번만 반복되어 매치되지 않음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ca{2}t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effectLst/>
                        </a:rPr>
                        <a:t>caat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"a"</a:t>
                      </a:r>
                      <a:r>
                        <a:rPr lang="ko-KR" altLang="en-US" sz="1800" dirty="0"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effectLst/>
                        </a:rPr>
                        <a:t>2</a:t>
                      </a:r>
                      <a:r>
                        <a:rPr lang="ko-KR" altLang="en-US" sz="1800" dirty="0">
                          <a:effectLst/>
                        </a:rPr>
                        <a:t>번 반복되어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ca{2,5}t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No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"a"</a:t>
                      </a:r>
                      <a:r>
                        <a:rPr lang="ko-KR" altLang="en-US" sz="1800" dirty="0"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effectLst/>
                        </a:rPr>
                        <a:t>1</a:t>
                      </a:r>
                      <a:r>
                        <a:rPr lang="ko-KR" altLang="en-US" sz="1800" dirty="0">
                          <a:effectLst/>
                        </a:rPr>
                        <a:t>번만 반복되어 매치되지 않음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ca{2,5}t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caat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"a"</a:t>
                      </a:r>
                      <a:r>
                        <a:rPr lang="ko-KR" altLang="en-US" sz="1800" dirty="0"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effectLst/>
                        </a:rPr>
                        <a:t>2</a:t>
                      </a:r>
                      <a:r>
                        <a:rPr lang="ko-KR" altLang="en-US" sz="1800" dirty="0">
                          <a:effectLst/>
                        </a:rPr>
                        <a:t>번 반복되어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ca{2,5}t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caaaaat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"a"</a:t>
                      </a:r>
                      <a:r>
                        <a:rPr lang="ko-KR" altLang="en-US" sz="1800" dirty="0"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effectLst/>
                        </a:rPr>
                        <a:t>5</a:t>
                      </a:r>
                      <a:r>
                        <a:rPr lang="ko-KR" altLang="en-US" sz="1800" dirty="0">
                          <a:effectLst/>
                        </a:rPr>
                        <a:t>번 반복되어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25850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반복 </a:t>
            </a:r>
            <a:r>
              <a:rPr lang="en-US" altLang="ko-KR" b="1" dirty="0"/>
              <a:t>(*)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100689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*바로 앞에 있는 문자 </a:t>
            </a:r>
            <a:r>
              <a:rPr lang="en-US" altLang="ko-KR" sz="1800" dirty="0" smtClean="0"/>
              <a:t>a</a:t>
            </a:r>
            <a:r>
              <a:rPr lang="ko-KR" altLang="en-US" sz="1800" dirty="0" smtClean="0"/>
              <a:t>가 </a:t>
            </a:r>
            <a:r>
              <a:rPr lang="en-US" altLang="ko-KR" sz="1800" dirty="0" smtClean="0"/>
              <a:t>0</a:t>
            </a:r>
            <a:r>
              <a:rPr lang="ko-KR" altLang="en-US" sz="1800" dirty="0" smtClean="0"/>
              <a:t>부터 </a:t>
            </a:r>
            <a:r>
              <a:rPr lang="ko-KR" altLang="en-US" sz="1800" dirty="0" err="1" smtClean="0"/>
              <a:t>무한개</a:t>
            </a:r>
            <a:r>
              <a:rPr lang="ko-KR" altLang="en-US" sz="1800" dirty="0" smtClean="0"/>
              <a:t> 까지 반복될 수 있다는 의미</a:t>
            </a:r>
            <a:r>
              <a:rPr lang="en-US" altLang="ko-KR" sz="1800" dirty="0" smtClean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75019664"/>
              </p:ext>
            </p:extLst>
          </p:nvPr>
        </p:nvGraphicFramePr>
        <p:xfrm>
          <a:off x="539552" y="1777360"/>
          <a:ext cx="8153400" cy="2011680"/>
        </p:xfrm>
        <a:graphic>
          <a:graphicData uri="http://schemas.openxmlformats.org/drawingml/2006/table">
            <a:tbl>
              <a:tblPr/>
              <a:tblGrid>
                <a:gridCol w="1368152"/>
                <a:gridCol w="1440160"/>
                <a:gridCol w="1944216"/>
                <a:gridCol w="340087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정규식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Match </a:t>
                      </a:r>
                      <a:r>
                        <a:rPr lang="ko-KR" altLang="en-US" b="1" dirty="0">
                          <a:effectLst/>
                        </a:rPr>
                        <a:t>여부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ca*t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</a:rPr>
                        <a:t>ct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"a"</a:t>
                      </a:r>
                      <a:r>
                        <a:rPr lang="ko-KR" altLang="en-US">
                          <a:effectLst/>
                        </a:rPr>
                        <a:t>가 </a:t>
                      </a:r>
                      <a:r>
                        <a:rPr lang="en-US" altLang="ko-KR">
                          <a:effectLst/>
                        </a:rPr>
                        <a:t>0</a:t>
                      </a:r>
                      <a:r>
                        <a:rPr lang="ko-KR" altLang="en-US">
                          <a:effectLst/>
                        </a:rPr>
                        <a:t>번 반복되어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ca*t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"a"</a:t>
                      </a:r>
                      <a:r>
                        <a:rPr lang="ko-KR" altLang="en-US">
                          <a:effectLst/>
                        </a:rPr>
                        <a:t>가 </a:t>
                      </a:r>
                      <a:r>
                        <a:rPr lang="en-US" altLang="ko-KR">
                          <a:effectLst/>
                        </a:rPr>
                        <a:t>0</a:t>
                      </a:r>
                      <a:r>
                        <a:rPr lang="ko-KR" altLang="en-US">
                          <a:effectLst/>
                        </a:rPr>
                        <a:t>번 이상 반복되어 매치 </a:t>
                      </a:r>
                      <a:r>
                        <a:rPr lang="en-US" altLang="ko-KR">
                          <a:effectLst/>
                        </a:rPr>
                        <a:t>(1</a:t>
                      </a:r>
                      <a:r>
                        <a:rPr lang="ko-KR" altLang="en-US">
                          <a:effectLst/>
                        </a:rPr>
                        <a:t>번 반복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ca*t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caaat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effectLst/>
                        </a:rPr>
                        <a:t>"a"</a:t>
                      </a:r>
                      <a:r>
                        <a:rPr lang="ko-KR" altLang="en-US" dirty="0">
                          <a:effectLst/>
                        </a:rPr>
                        <a:t>가 </a:t>
                      </a:r>
                      <a:r>
                        <a:rPr lang="en-US" altLang="ko-KR" dirty="0">
                          <a:effectLst/>
                        </a:rPr>
                        <a:t>0</a:t>
                      </a:r>
                      <a:r>
                        <a:rPr lang="ko-KR" altLang="en-US" dirty="0">
                          <a:effectLst/>
                        </a:rPr>
                        <a:t>번 이상 반복되어 매치 </a:t>
                      </a:r>
                      <a:r>
                        <a:rPr lang="en-US" altLang="ko-KR" dirty="0">
                          <a:effectLst/>
                        </a:rPr>
                        <a:t>(3</a:t>
                      </a:r>
                      <a:r>
                        <a:rPr lang="ko-KR" altLang="en-US" dirty="0">
                          <a:effectLst/>
                        </a:rPr>
                        <a:t>번 반복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61872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반복 </a:t>
            </a:r>
            <a:r>
              <a:rPr lang="en-US" altLang="ko-KR" b="1" dirty="0"/>
              <a:t>(+)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+</a:t>
            </a:r>
            <a:r>
              <a:rPr lang="ko-KR" altLang="en-US" sz="1800" dirty="0"/>
              <a:t>는 최소 </a:t>
            </a:r>
            <a:r>
              <a:rPr lang="en-US" altLang="ko-KR" sz="1800" dirty="0"/>
              <a:t>1</a:t>
            </a:r>
            <a:r>
              <a:rPr lang="ko-KR" altLang="en-US" sz="1800" dirty="0"/>
              <a:t>개 이상의 반복을 필요로 하는 메타문자</a:t>
            </a:r>
            <a:endParaRPr lang="en-US" altLang="ko-KR" sz="1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4408606"/>
              </p:ext>
            </p:extLst>
          </p:nvPr>
        </p:nvGraphicFramePr>
        <p:xfrm>
          <a:off x="611560" y="1513383"/>
          <a:ext cx="8153400" cy="2286000"/>
        </p:xfrm>
        <a:graphic>
          <a:graphicData uri="http://schemas.openxmlformats.org/drawingml/2006/table">
            <a:tbl>
              <a:tblPr/>
              <a:tblGrid>
                <a:gridCol w="1440160"/>
                <a:gridCol w="1512168"/>
                <a:gridCol w="1800200"/>
                <a:gridCol w="340087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정규식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Match </a:t>
                      </a:r>
                      <a:r>
                        <a:rPr lang="ko-KR" altLang="en-US" b="1" dirty="0">
                          <a:effectLst/>
                        </a:rPr>
                        <a:t>여부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</a:rPr>
                        <a:t>ca+t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</a:rPr>
                        <a:t>ct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"a"</a:t>
                      </a:r>
                      <a:r>
                        <a:rPr lang="ko-KR" altLang="en-US">
                          <a:effectLst/>
                        </a:rPr>
                        <a:t>가 </a:t>
                      </a:r>
                      <a:r>
                        <a:rPr lang="en-US" altLang="ko-KR">
                          <a:effectLst/>
                        </a:rPr>
                        <a:t>0</a:t>
                      </a:r>
                      <a:r>
                        <a:rPr lang="ko-KR" altLang="en-US">
                          <a:effectLst/>
                        </a:rPr>
                        <a:t>번 반복되어 매치되지 않음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ca+t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"a"</a:t>
                      </a:r>
                      <a:r>
                        <a:rPr lang="ko-KR" altLang="en-US">
                          <a:effectLst/>
                        </a:rPr>
                        <a:t>가 </a:t>
                      </a:r>
                      <a:r>
                        <a:rPr lang="en-US" altLang="ko-KR">
                          <a:effectLst/>
                        </a:rPr>
                        <a:t>1</a:t>
                      </a:r>
                      <a:r>
                        <a:rPr lang="ko-KR" altLang="en-US">
                          <a:effectLst/>
                        </a:rPr>
                        <a:t>번 이상 반복되어 매치 </a:t>
                      </a:r>
                      <a:r>
                        <a:rPr lang="en-US" altLang="ko-KR">
                          <a:effectLst/>
                        </a:rPr>
                        <a:t>(1</a:t>
                      </a:r>
                      <a:r>
                        <a:rPr lang="ko-KR" altLang="en-US">
                          <a:effectLst/>
                        </a:rPr>
                        <a:t>번 반복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ca+t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caaat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effectLst/>
                        </a:rPr>
                        <a:t>"a"</a:t>
                      </a:r>
                      <a:r>
                        <a:rPr lang="ko-KR" altLang="en-US" dirty="0">
                          <a:effectLst/>
                        </a:rPr>
                        <a:t>가 </a:t>
                      </a:r>
                      <a:r>
                        <a:rPr lang="en-US" altLang="ko-KR" dirty="0">
                          <a:effectLst/>
                        </a:rPr>
                        <a:t>1</a:t>
                      </a:r>
                      <a:r>
                        <a:rPr lang="ko-KR" altLang="en-US" dirty="0">
                          <a:effectLst/>
                        </a:rPr>
                        <a:t>번 이상 반복되어 매치 </a:t>
                      </a:r>
                      <a:r>
                        <a:rPr lang="en-US" altLang="ko-KR" dirty="0">
                          <a:effectLst/>
                        </a:rPr>
                        <a:t>(3</a:t>
                      </a:r>
                      <a:r>
                        <a:rPr lang="ko-KR" altLang="en-US" dirty="0">
                          <a:effectLst/>
                        </a:rPr>
                        <a:t>번 반복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4077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반복 </a:t>
            </a:r>
            <a:r>
              <a:rPr lang="en-US" altLang="ko-KR" b="1" dirty="0" smtClean="0"/>
              <a:t>(?)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?</a:t>
            </a:r>
            <a:r>
              <a:rPr lang="ko-KR" altLang="en-US" sz="1800" dirty="0"/>
              <a:t> 메타문자가 의미하는 것은 </a:t>
            </a:r>
            <a:r>
              <a:rPr lang="en-US" altLang="ko-KR" sz="1800" dirty="0"/>
              <a:t>{0, 1</a:t>
            </a:r>
            <a:r>
              <a:rPr lang="en-US" altLang="ko-KR" sz="1800" dirty="0" smtClean="0"/>
              <a:t>}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7373735"/>
              </p:ext>
            </p:extLst>
          </p:nvPr>
        </p:nvGraphicFramePr>
        <p:xfrm>
          <a:off x="611560" y="1628800"/>
          <a:ext cx="8153400" cy="1097280"/>
        </p:xfrm>
        <a:graphic>
          <a:graphicData uri="http://schemas.openxmlformats.org/drawingml/2006/table">
            <a:tbl>
              <a:tblPr/>
              <a:tblGrid>
                <a:gridCol w="1440160"/>
                <a:gridCol w="1512168"/>
                <a:gridCol w="1800200"/>
                <a:gridCol w="340087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정규식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Match </a:t>
                      </a:r>
                      <a:r>
                        <a:rPr lang="ko-KR" altLang="en-US" b="1" dirty="0">
                          <a:effectLst/>
                        </a:rPr>
                        <a:t>여부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</a:rPr>
                        <a:t>ab?c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</a:rPr>
                        <a:t>abc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"b"</a:t>
                      </a:r>
                      <a:r>
                        <a:rPr lang="ko-KR" altLang="en-US">
                          <a:effectLst/>
                        </a:rPr>
                        <a:t>가 </a:t>
                      </a:r>
                      <a:r>
                        <a:rPr lang="en-US" altLang="ko-KR">
                          <a:effectLst/>
                        </a:rPr>
                        <a:t>1</a:t>
                      </a:r>
                      <a:r>
                        <a:rPr lang="ko-KR" altLang="en-US">
                          <a:effectLst/>
                        </a:rPr>
                        <a:t>번 사용되어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ab?c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effectLst/>
                        </a:rPr>
                        <a:t>"b"</a:t>
                      </a:r>
                      <a:r>
                        <a:rPr lang="ko-KR" altLang="en-US" dirty="0">
                          <a:effectLst/>
                        </a:rPr>
                        <a:t>가 </a:t>
                      </a:r>
                      <a:r>
                        <a:rPr lang="en-US" altLang="ko-KR" dirty="0">
                          <a:effectLst/>
                        </a:rPr>
                        <a:t>0</a:t>
                      </a:r>
                      <a:r>
                        <a:rPr lang="ko-KR" altLang="en-US" dirty="0">
                          <a:effectLst/>
                        </a:rPr>
                        <a:t>번 사용되어 매치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3077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i="1" dirty="0"/>
              <a:t>non-greedy</a:t>
            </a:r>
            <a:r>
              <a:rPr lang="en-US" altLang="ko-KR" dirty="0"/>
              <a:t> </a:t>
            </a:r>
            <a:r>
              <a:rPr lang="en-US" altLang="ko-KR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dirty="0"/>
              <a:t>*</a:t>
            </a:r>
            <a:r>
              <a:rPr lang="en-US" altLang="ko-KR" dirty="0"/>
              <a:t>?, +?, ??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32474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 err="1" smtClean="0"/>
              <a:t>정규표현식은</a:t>
            </a:r>
            <a:r>
              <a:rPr lang="ko-KR" altLang="en-US" sz="1800" dirty="0" smtClean="0"/>
              <a:t> 연속적인 패턴이 있을 경우 최종까지 처리되어 </a:t>
            </a:r>
            <a:r>
              <a:rPr lang="en-US" altLang="ko-KR" sz="1800" dirty="0" smtClean="0"/>
              <a:t>non-greedy </a:t>
            </a:r>
            <a:r>
              <a:rPr lang="en-US" altLang="ko-KR" sz="1800" i="1" dirty="0" smtClean="0"/>
              <a:t>minimal</a:t>
            </a:r>
            <a:r>
              <a:rPr lang="en-US" altLang="ko-KR" sz="1800" dirty="0"/>
              <a:t> </a:t>
            </a:r>
            <a:r>
              <a:rPr lang="en-US" altLang="ko-KR" sz="1800" dirty="0" smtClean="0"/>
              <a:t>fashion </a:t>
            </a:r>
            <a:r>
              <a:rPr lang="ko-KR" altLang="en-US" sz="1800" dirty="0"/>
              <a:t>처</a:t>
            </a:r>
            <a:r>
              <a:rPr lang="ko-KR" altLang="en-US" sz="1800" dirty="0" smtClean="0"/>
              <a:t>리를 위한 기호</a:t>
            </a:r>
            <a:endParaRPr lang="en-US" altLang="ko-KR" sz="1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38259905"/>
              </p:ext>
            </p:extLst>
          </p:nvPr>
        </p:nvGraphicFramePr>
        <p:xfrm>
          <a:off x="611560" y="3212976"/>
          <a:ext cx="7272809" cy="1529328"/>
        </p:xfrm>
        <a:graphic>
          <a:graphicData uri="http://schemas.openxmlformats.org/drawingml/2006/table">
            <a:tbl>
              <a:tblPr/>
              <a:tblGrid>
                <a:gridCol w="2084563"/>
                <a:gridCol w="2594123"/>
                <a:gridCol w="2594123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정규식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 smtClean="0">
                          <a:effectLst/>
                        </a:rPr>
                        <a:t>매칭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&lt;.*?&gt;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&lt;H1&gt;title&lt;/H1&gt;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>
                          <a:effectLst/>
                        </a:rPr>
                        <a:t>&lt;H1&gt;</a:t>
                      </a:r>
                      <a:endParaRPr lang="en-US" dirty="0" smtClean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&lt;.+?&gt;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&lt;H1&gt;title&lt;/H1&gt;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>
                          <a:effectLst/>
                        </a:rPr>
                        <a:t>&lt;H1&gt;</a:t>
                      </a:r>
                      <a:endParaRPr lang="en-US" dirty="0" smtClean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&lt;.??&gt;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&lt;b&gt;title&lt;/b&gt;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>
                          <a:effectLst/>
                        </a:rPr>
                        <a:t>&lt;b&gt;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76488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Group : </a:t>
            </a:r>
            <a:r>
              <a:rPr lang="ko-KR" altLang="en-US" dirty="0" smtClean="0"/>
              <a:t>기본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513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Grouping</a:t>
            </a:r>
            <a:r>
              <a:rPr lang="en-US" altLang="ko-KR" b="1" dirty="0"/>
              <a:t> </a:t>
            </a:r>
            <a:r>
              <a:rPr lang="ko-KR" altLang="en-US" b="1" dirty="0" smtClean="0"/>
              <a:t>기</a:t>
            </a:r>
            <a:r>
              <a:rPr lang="ko-KR" altLang="en-US" b="1" dirty="0"/>
              <a:t>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229600" cy="1684783"/>
          </a:xfrm>
        </p:spPr>
        <p:txBody>
          <a:bodyPr>
            <a:normAutofit/>
          </a:bodyPr>
          <a:lstStyle/>
          <a:p>
            <a:pPr marL="365760" lvl="1" indent="0">
              <a:lnSpc>
                <a:spcPct val="120000"/>
              </a:lnSpc>
              <a:buNone/>
            </a:pPr>
            <a:r>
              <a:rPr lang="en-US" altLang="ko-KR" dirty="0" smtClean="0">
                <a:latin typeface="+mn-ea"/>
              </a:rPr>
              <a:t>Group</a:t>
            </a:r>
            <a:r>
              <a:rPr lang="ko-KR" altLang="en-US" dirty="0" smtClean="0">
                <a:latin typeface="+mn-ea"/>
              </a:rPr>
              <a:t>을 만들기 위해서는 </a:t>
            </a:r>
            <a:r>
              <a:rPr lang="en-US" altLang="ko-KR" dirty="0" smtClean="0">
                <a:latin typeface="+mn-ea"/>
              </a:rPr>
              <a:t>( )</a:t>
            </a:r>
            <a:r>
              <a:rPr lang="ko-KR" altLang="en-US" dirty="0" smtClean="0">
                <a:latin typeface="+mn-ea"/>
              </a:rPr>
              <a:t>를 사용하면 특수 그룹은 </a:t>
            </a:r>
            <a:r>
              <a:rPr lang="ko-KR" altLang="en-US" dirty="0" err="1" smtClean="0">
                <a:latin typeface="+mn-ea"/>
              </a:rPr>
              <a:t>첫번째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다음에 </a:t>
            </a:r>
            <a:r>
              <a:rPr lang="en-US" altLang="ko-KR" dirty="0" smtClean="0">
                <a:latin typeface="+mn-ea"/>
              </a:rPr>
              <a:t>?</a:t>
            </a:r>
            <a:r>
              <a:rPr lang="ko-KR" altLang="en-US" dirty="0" smtClean="0">
                <a:latin typeface="+mn-ea"/>
              </a:rPr>
              <a:t>를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넣은 다음 </a:t>
            </a:r>
            <a:r>
              <a:rPr lang="en-US" altLang="ko-KR" dirty="0" smtClean="0">
                <a:latin typeface="+mn-ea"/>
              </a:rPr>
              <a:t>(“(?”) </a:t>
            </a:r>
            <a:r>
              <a:rPr lang="ko-KR" altLang="en-US" dirty="0" smtClean="0">
                <a:latin typeface="+mn-ea"/>
              </a:rPr>
              <a:t>다양한 문자표현을 사용해서 </a:t>
            </a:r>
            <a:r>
              <a:rPr lang="ko-KR" altLang="en-US" dirty="0" err="1" smtClean="0">
                <a:latin typeface="+mn-ea"/>
              </a:rPr>
              <a:t>정규표현식</a:t>
            </a:r>
            <a:r>
              <a:rPr lang="ko-KR" altLang="en-US" dirty="0" smtClean="0">
                <a:latin typeface="+mn-ea"/>
              </a:rPr>
              <a:t> 문법을 </a:t>
            </a:r>
            <a:r>
              <a:rPr lang="ko-KR" altLang="en-US" dirty="0" err="1" smtClean="0">
                <a:latin typeface="+mn-ea"/>
              </a:rPr>
              <a:t>만듬</a:t>
            </a:r>
            <a:endParaRPr lang="en-US" altLang="ko-KR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988840"/>
            <a:ext cx="201622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일반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520684" y="1988840"/>
            <a:ext cx="453650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패턴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27584" y="3140968"/>
            <a:ext cx="201622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특</a:t>
            </a:r>
            <a:r>
              <a:rPr lang="ko-KR" altLang="en-US" dirty="0"/>
              <a:t>수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20684" y="3140968"/>
            <a:ext cx="453650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(?</a:t>
            </a:r>
            <a:r>
              <a:rPr lang="ko-KR" altLang="en-US" dirty="0" smtClean="0"/>
              <a:t>문자표현 패턴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71352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Grouping(…)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95536" y="836712"/>
            <a:ext cx="8229600" cy="96470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>
                <a:latin typeface="+mn-ea"/>
              </a:rPr>
              <a:t>( ) </a:t>
            </a:r>
            <a:r>
              <a:rPr lang="ko-KR" altLang="en-US" sz="1800" dirty="0" smtClean="0">
                <a:latin typeface="+mn-ea"/>
              </a:rPr>
              <a:t>내에 정규 </a:t>
            </a:r>
            <a:r>
              <a:rPr lang="ko-KR" altLang="en-US" sz="1800" dirty="0" err="1" smtClean="0">
                <a:latin typeface="+mn-ea"/>
              </a:rPr>
              <a:t>표현식을</a:t>
            </a:r>
            <a:r>
              <a:rPr lang="ko-KR" altLang="en-US" sz="1800" dirty="0" smtClean="0">
                <a:latin typeface="+mn-ea"/>
              </a:rPr>
              <a:t> 정의하고 특정 단어나 특정 그룹을 표시</a:t>
            </a:r>
            <a:endParaRPr lang="en-US" altLang="ko-KR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16898707"/>
              </p:ext>
            </p:extLst>
          </p:nvPr>
        </p:nvGraphicFramePr>
        <p:xfrm>
          <a:off x="611560" y="1772816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"([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]).+([</a:t>
                      </a:r>
                      <a:r>
                        <a:rPr lang="en-US" altLang="ko-KR" sz="1800" dirty="0" err="1" smtClean="0">
                          <a:effectLst/>
                        </a:rPr>
                        <a:t>def</a:t>
                      </a:r>
                      <a:r>
                        <a:rPr lang="en-US" altLang="ko-KR" sz="1800" dirty="0" smtClean="0">
                          <a:effectLst/>
                        </a:rPr>
                        <a:t>])"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effectLst/>
                        </a:rPr>
                        <a:t>"b===d==c"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'b===d‘ ,b,</a:t>
                      </a:r>
                      <a:r>
                        <a:rPr lang="en-US" altLang="ko-KR" sz="1800" baseline="0" dirty="0" smtClean="0">
                          <a:effectLst/>
                        </a:rPr>
                        <a:t> d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75616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Grouping</a:t>
            </a:r>
            <a:r>
              <a:rPr lang="en-US" altLang="ko-KR" b="1" dirty="0" smtClean="0"/>
              <a:t>(…) </a:t>
            </a:r>
            <a:r>
              <a:rPr lang="ko-KR" altLang="en-US" b="1" dirty="0" smtClean="0"/>
              <a:t>주의사항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90080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>
                <a:latin typeface="+mn-ea"/>
              </a:rPr>
              <a:t>“pattern”</a:t>
            </a:r>
            <a:r>
              <a:rPr lang="ko-KR" altLang="en-US" sz="2800" dirty="0" smtClean="0">
                <a:latin typeface="+mn-ea"/>
              </a:rPr>
              <a:t>은 이 패턴에 맞는 것만 찾지만 </a:t>
            </a:r>
            <a:r>
              <a:rPr lang="en-US" altLang="ko-KR" sz="2800" dirty="0" smtClean="0">
                <a:latin typeface="+mn-ea"/>
              </a:rPr>
              <a:t>(“pattern”)</a:t>
            </a:r>
            <a:r>
              <a:rPr lang="ko-KR" altLang="en-US" sz="2800" dirty="0" smtClean="0">
                <a:latin typeface="+mn-ea"/>
              </a:rPr>
              <a:t>은 패턴 검색 후 그룹단위로 출력을 처리하므로 처리결과가 상이할 수 있음</a:t>
            </a:r>
            <a:endParaRPr lang="en-US" altLang="ko-KR" sz="2800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35696" y="3573016"/>
            <a:ext cx="3888432" cy="2520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In [70]: </a:t>
            </a:r>
            <a:r>
              <a:rPr lang="en-US" altLang="ko-KR" sz="1000" dirty="0" err="1"/>
              <a:t>re.split</a:t>
            </a:r>
            <a:r>
              <a:rPr lang="en-US" altLang="ko-KR" sz="1000" dirty="0"/>
              <a:t>('(\W+)', 'Words, words, words')</a:t>
            </a:r>
          </a:p>
          <a:p>
            <a:r>
              <a:rPr lang="en-US" altLang="ko-KR" sz="1000" dirty="0"/>
              <a:t>Out[70]: ['Words', ', ', 'words', ', ', 'words']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 [71]: </a:t>
            </a:r>
            <a:r>
              <a:rPr lang="en-US" altLang="ko-KR" sz="1000" dirty="0" err="1"/>
              <a:t>re.split</a:t>
            </a:r>
            <a:r>
              <a:rPr lang="en-US" altLang="ko-KR" sz="1000" dirty="0"/>
              <a:t>('\W+', 'Words, words, words')</a:t>
            </a:r>
          </a:p>
          <a:p>
            <a:r>
              <a:rPr lang="en-US" altLang="ko-KR" sz="1000" dirty="0"/>
              <a:t>Out[71]: ['Words', 'words', 'words']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 [72]: </a:t>
            </a:r>
            <a:r>
              <a:rPr lang="en-US" altLang="ko-KR" sz="1000" dirty="0" err="1"/>
              <a:t>re.split</a:t>
            </a:r>
            <a:r>
              <a:rPr lang="en-US" altLang="ko-KR" sz="1000" dirty="0"/>
              <a:t>('\w+', 'Words, words, words')</a:t>
            </a:r>
          </a:p>
          <a:p>
            <a:r>
              <a:rPr lang="en-US" altLang="ko-KR" sz="1000" dirty="0"/>
              <a:t>Out[72]: ['', ', ', ', ', '']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 [73]: </a:t>
            </a:r>
            <a:r>
              <a:rPr lang="en-US" altLang="ko-KR" sz="1000" dirty="0" err="1"/>
              <a:t>re.split</a:t>
            </a:r>
            <a:r>
              <a:rPr lang="en-US" altLang="ko-KR" sz="1000" dirty="0"/>
              <a:t>('(\w+)', 'Words, words, words')</a:t>
            </a:r>
          </a:p>
          <a:p>
            <a:r>
              <a:rPr lang="en-US" altLang="ko-KR" sz="1000" dirty="0"/>
              <a:t>Out[73]: ['', 'Words', ', ', 'words', ', ', 'words', '']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319056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Grouping</a:t>
            </a:r>
            <a:r>
              <a:rPr lang="en-US" altLang="ko-KR" b="1" dirty="0" smtClean="0"/>
              <a:t>(…) :</a:t>
            </a:r>
            <a:r>
              <a:rPr lang="ko-KR" altLang="en-US" b="1" dirty="0" smtClean="0"/>
              <a:t>예시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3967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line </a:t>
            </a:r>
            <a:r>
              <a:rPr lang="en-US" altLang="ko-KR" sz="1200" dirty="0"/>
              <a:t>= "Cats are smarter than </a:t>
            </a:r>
            <a:r>
              <a:rPr lang="en-US" altLang="ko-KR" sz="1200" dirty="0" smtClean="0"/>
              <a:t>dogs“</a:t>
            </a:r>
            <a:endParaRPr lang="en-US" altLang="ko-KR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 smtClean="0"/>
              <a:t>matchObj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= </a:t>
            </a:r>
            <a:r>
              <a:rPr lang="en-US" altLang="ko-KR" sz="1200" dirty="0" err="1"/>
              <a:t>re.match</a:t>
            </a:r>
            <a:r>
              <a:rPr lang="en-US" altLang="ko-KR" sz="1200" dirty="0"/>
              <a:t>( r'(.*) </a:t>
            </a:r>
            <a:r>
              <a:rPr lang="en-US" altLang="ko-KR" sz="1200" dirty="0" smtClean="0"/>
              <a:t> are  (.*?)  (.*)', </a:t>
            </a:r>
            <a:r>
              <a:rPr lang="en-US" altLang="ko-KR" sz="1200" dirty="0"/>
              <a:t>line, </a:t>
            </a:r>
            <a:r>
              <a:rPr lang="en-US" altLang="ko-KR" sz="1200" dirty="0" err="1" smtClean="0"/>
              <a:t>re.M|re.I</a:t>
            </a:r>
            <a:r>
              <a:rPr lang="en-US" altLang="ko-KR" sz="1200" dirty="0" smtClean="0"/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Cats 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(.*) </a:t>
            </a:r>
            <a:r>
              <a:rPr lang="ko-KR" altLang="en-US" sz="1200" dirty="0" err="1" smtClean="0"/>
              <a:t>매칭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, smarter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(.*?)</a:t>
            </a:r>
            <a:r>
              <a:rPr lang="ko-KR" altLang="en-US" sz="1200" dirty="0" smtClean="0"/>
              <a:t>와 </a:t>
            </a:r>
            <a:r>
              <a:rPr lang="ko-KR" altLang="en-US" sz="1200" dirty="0" err="1" smtClean="0"/>
              <a:t>매칭</a:t>
            </a:r>
            <a:r>
              <a:rPr lang="en-US" altLang="ko-KR" sz="1200" dirty="0" smtClean="0"/>
              <a:t>, than dogs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(.*)</a:t>
            </a:r>
            <a:r>
              <a:rPr lang="ko-KR" altLang="en-US" sz="1200" dirty="0" smtClean="0"/>
              <a:t>와 </a:t>
            </a:r>
            <a:r>
              <a:rPr lang="ko-KR" altLang="en-US" sz="1200" dirty="0" err="1" smtClean="0"/>
              <a:t>매칭</a:t>
            </a:r>
            <a:endParaRPr lang="en-US" altLang="ko-KR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 smtClean="0"/>
              <a:t>re.I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대소문자에 관계없이 </a:t>
            </a:r>
            <a:r>
              <a:rPr lang="ko-KR" altLang="en-US" sz="1200" dirty="0" smtClean="0"/>
              <a:t>매치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Re.m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여러 줄과 매치</a:t>
            </a:r>
            <a:endParaRPr lang="en-US" altLang="ko-KR" sz="1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82785923"/>
              </p:ext>
            </p:extLst>
          </p:nvPr>
        </p:nvGraphicFramePr>
        <p:xfrm>
          <a:off x="827584" y="3068960"/>
          <a:ext cx="7416824" cy="1219200"/>
        </p:xfrm>
        <a:graphic>
          <a:graphicData uri="http://schemas.openxmlformats.org/drawingml/2006/table">
            <a:tbl>
              <a:tblPr/>
              <a:tblGrid>
                <a:gridCol w="1841926"/>
                <a:gridCol w="5574898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\D\d+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 smtClean="0">
                          <a:effectLst/>
                        </a:rPr>
                        <a:t>\</a:t>
                      </a:r>
                      <a:r>
                        <a:rPr lang="en-US" sz="1200" dirty="0" err="1" smtClean="0">
                          <a:effectLst/>
                        </a:rPr>
                        <a:t>DNo</a:t>
                      </a:r>
                      <a:r>
                        <a:rPr lang="en-US" sz="1200" dirty="0" smtClean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group: + repeats \d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(\D\d)+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Grouped: + repeats \D\d pair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([Pp]</a:t>
                      </a:r>
                      <a:r>
                        <a:rPr lang="en-US" sz="1200" dirty="0" err="1">
                          <a:effectLst/>
                        </a:rPr>
                        <a:t>ython</a:t>
                      </a:r>
                      <a:r>
                        <a:rPr lang="en-US" sz="1200" dirty="0">
                          <a:effectLst/>
                        </a:rPr>
                        <a:t>(, )?)+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Match "Python", "Python, python, python", etc.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16152085"/>
              </p:ext>
            </p:extLst>
          </p:nvPr>
        </p:nvGraphicFramePr>
        <p:xfrm>
          <a:off x="827584" y="5212040"/>
          <a:ext cx="7416824" cy="1097280"/>
        </p:xfrm>
        <a:graphic>
          <a:graphicData uri="http://schemas.openxmlformats.org/drawingml/2006/table">
            <a:tbl>
              <a:tblPr/>
              <a:tblGrid>
                <a:gridCol w="1841926"/>
                <a:gridCol w="5574898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([Pp])ython&amp;\1ails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Match </a:t>
                      </a:r>
                      <a:r>
                        <a:rPr lang="en-US" sz="1200" dirty="0" err="1">
                          <a:effectLst/>
                        </a:rPr>
                        <a:t>python&amp;pails</a:t>
                      </a:r>
                      <a:r>
                        <a:rPr lang="en-US" sz="1200" dirty="0">
                          <a:effectLst/>
                        </a:rPr>
                        <a:t> or </a:t>
                      </a:r>
                      <a:r>
                        <a:rPr lang="en-US" sz="1200" dirty="0" err="1">
                          <a:effectLst/>
                        </a:rPr>
                        <a:t>Python&amp;Pails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200">
                          <a:effectLst/>
                        </a:rPr>
                        <a:t>(['"])[^\1]*\1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Single or double-quoted string. \1 matches whatever the 1st group matched. \2 matches whatever the 2nd group matched, etc.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9552" y="4437112"/>
            <a:ext cx="7704856" cy="67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indent="-320040">
              <a:lnSpc>
                <a:spcPct val="12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§"/>
            </a:pPr>
            <a:r>
              <a:rPr lang="ko-KR" altLang="en-US" dirty="0"/>
              <a:t>기존 그룹을 </a:t>
            </a:r>
            <a:r>
              <a:rPr lang="ko-KR" altLang="en-US" dirty="0" smtClean="0"/>
              <a:t>재사용하기</a:t>
            </a:r>
            <a:endParaRPr lang="en-US" altLang="ko-KR" dirty="0" smtClean="0"/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</a:pPr>
            <a:r>
              <a:rPr lang="ko-KR" altLang="en-US" sz="1100" dirty="0" smtClean="0"/>
              <a:t>기존 그룹을 숫자를 사용하여 참조하게 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xmlns="" val="3077301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Named Group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95536" y="908720"/>
            <a:ext cx="8229600" cy="154076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600" b="1" dirty="0" smtClean="0">
                <a:latin typeface="+mn-ea"/>
              </a:rPr>
              <a:t>( ) </a:t>
            </a:r>
            <a:r>
              <a:rPr lang="ko-KR" altLang="en-US" sz="1600" b="1" dirty="0" smtClean="0">
                <a:latin typeface="+mn-ea"/>
              </a:rPr>
              <a:t>내에 </a:t>
            </a:r>
            <a:r>
              <a:rPr lang="en-US" altLang="ko-KR" sz="1600" b="1" dirty="0" smtClean="0">
                <a:latin typeface="+mn-ea"/>
              </a:rPr>
              <a:t>name</a:t>
            </a:r>
            <a:r>
              <a:rPr lang="ko-KR" altLang="en-US" sz="1600" b="1" dirty="0" smtClean="0">
                <a:latin typeface="+mn-ea"/>
              </a:rPr>
              <a:t>을 붙여서 </a:t>
            </a:r>
            <a:r>
              <a:rPr lang="en-US" altLang="ko-KR" sz="1600" b="1" dirty="0" smtClean="0">
                <a:latin typeface="+mn-ea"/>
              </a:rPr>
              <a:t>name </a:t>
            </a:r>
            <a:r>
              <a:rPr lang="ko-KR" altLang="en-US" sz="1600" b="1" dirty="0" smtClean="0">
                <a:latin typeface="+mn-ea"/>
              </a:rPr>
              <a:t>으로 패턴 </a:t>
            </a:r>
            <a:r>
              <a:rPr lang="ko-KR" altLang="en-US" sz="1600" b="1" dirty="0" err="1" smtClean="0">
                <a:latin typeface="+mn-ea"/>
              </a:rPr>
              <a:t>매칭을</a:t>
            </a:r>
            <a:r>
              <a:rPr lang="ko-KR" altLang="en-US" sz="1600" b="1" dirty="0" smtClean="0">
                <a:latin typeface="+mn-ea"/>
              </a:rPr>
              <a:t> 찾을 수 있는 구조를 </a:t>
            </a:r>
            <a:r>
              <a:rPr lang="ko-KR" altLang="en-US" sz="1600" b="1" dirty="0" err="1" smtClean="0">
                <a:latin typeface="+mn-ea"/>
              </a:rPr>
              <a:t>만듬</a:t>
            </a:r>
            <a:endParaRPr lang="en-US" altLang="ko-KR" sz="1600" b="1" dirty="0"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6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96741173"/>
              </p:ext>
            </p:extLst>
          </p:nvPr>
        </p:nvGraphicFramePr>
        <p:xfrm>
          <a:off x="467544" y="1556792"/>
          <a:ext cx="7920880" cy="1700207"/>
        </p:xfrm>
        <a:graphic>
          <a:graphicData uri="http://schemas.openxmlformats.org/drawingml/2006/table">
            <a:tbl>
              <a:tblPr/>
              <a:tblGrid>
                <a:gridCol w="2664296"/>
                <a:gridCol w="1872208"/>
                <a:gridCol w="338437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kumimoji="0" lang="en-US" altLang="ko-KR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'(?P&lt;name&gt;.*) (?P&lt;phone&gt;.*)'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effectLst/>
                        </a:rPr>
                        <a:t>‘John 123456'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name = </a:t>
                      </a:r>
                      <a:r>
                        <a:rPr lang="en-US" altLang="ko-KR" sz="1800" dirty="0" err="1" smtClean="0">
                          <a:effectLst/>
                        </a:rPr>
                        <a:t>johe</a:t>
                      </a:r>
                      <a:r>
                        <a:rPr lang="en-US" altLang="ko-KR" sz="1800" dirty="0" smtClean="0">
                          <a:effectLst/>
                        </a:rPr>
                        <a:t>, phone=123456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pl-PL" altLang="ko-KR" dirty="0" smtClean="0"/>
                        <a:t>"(?P&lt;first&gt;\w+)\W+(?P&lt;last&gt;\w+)"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"Clyde Griffiths"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 smtClean="0"/>
                        <a:t>first</a:t>
                      </a:r>
                      <a:r>
                        <a:rPr lang="en-US" altLang="ko-KR" baseline="0" dirty="0" smtClean="0"/>
                        <a:t> = </a:t>
                      </a:r>
                      <a:r>
                        <a:rPr lang="en-US" altLang="ko-KR" dirty="0" smtClean="0"/>
                        <a:t>Clyde </a:t>
                      </a:r>
                    </a:p>
                    <a:p>
                      <a:pPr algn="l"/>
                      <a:r>
                        <a:rPr lang="en-US" altLang="ko-KR" dirty="0" smtClean="0"/>
                        <a:t>last = Griffiths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83742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Non-capture : (?: …)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836712"/>
            <a:ext cx="8229600" cy="168478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600" b="1" dirty="0" smtClean="0">
                <a:latin typeface="+mn-ea"/>
              </a:rPr>
              <a:t>정규 표현의 </a:t>
            </a:r>
            <a:r>
              <a:rPr lang="ko-KR" altLang="en-US" sz="1600" b="1" dirty="0">
                <a:latin typeface="+mn-ea"/>
              </a:rPr>
              <a:t>괄호 안에 있지만 그룹에 의해 일치하는 부분 문자열 비교를 수행 한 후 검색 또는 나중에 패턴에서 </a:t>
            </a:r>
            <a:r>
              <a:rPr lang="ko-KR" altLang="en-US" sz="1600" b="1" dirty="0" smtClean="0">
                <a:latin typeface="+mn-ea"/>
              </a:rPr>
              <a:t>참조하지 않음</a:t>
            </a:r>
            <a:endParaRPr lang="en-US" altLang="ko-KR" sz="16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48849944"/>
              </p:ext>
            </p:extLst>
          </p:nvPr>
        </p:nvGraphicFramePr>
        <p:xfrm>
          <a:off x="611560" y="1700808"/>
          <a:ext cx="7920880" cy="1060127"/>
        </p:xfrm>
        <a:graphic>
          <a:graphicData uri="http://schemas.openxmlformats.org/drawingml/2006/table">
            <a:tbl>
              <a:tblPr/>
              <a:tblGrid>
                <a:gridCol w="2808312"/>
                <a:gridCol w="2088232"/>
                <a:gridCol w="302433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dirty="0" smtClean="0"/>
                        <a:t>"(</a:t>
                      </a:r>
                      <a:r>
                        <a:rPr kumimoji="0" lang="en-US" altLang="ko-KR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r>
                        <a:rPr lang="en-US" altLang="ko-KR" dirty="0" smtClean="0"/>
                        <a:t>(</a:t>
                      </a:r>
                      <a:r>
                        <a:rPr kumimoji="0" lang="en-US" altLang="ko-KR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r>
                        <a:rPr lang="en-US" altLang="ko-KR" dirty="0" smtClean="0"/>
                        <a:t>\w{3})|(</a:t>
                      </a:r>
                      <a:r>
                        <a:rPr kumimoji="0" lang="en-US" altLang="ko-KR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r>
                        <a:rPr lang="en-US" altLang="ko-KR" dirty="0" smtClean="0"/>
                        <a:t>\-{3}))\d\d\d$"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“cat100 “</a:t>
                      </a:r>
                    </a:p>
                    <a:p>
                      <a:pPr algn="ctr"/>
                      <a:r>
                        <a:rPr lang="en-US" altLang="ko-KR" dirty="0" smtClean="0"/>
                        <a:t>“---200”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“cat100 “</a:t>
                      </a:r>
                    </a:p>
                    <a:p>
                      <a:pPr algn="ctr"/>
                      <a:r>
                        <a:rPr lang="en-US" altLang="ko-KR" dirty="0" smtClean="0"/>
                        <a:t>“---200”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43608" y="3409007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(?:(?:\</a:t>
            </a:r>
            <a:r>
              <a:rPr lang="en-US" altLang="ko-KR" dirty="0"/>
              <a:t>w{3})|(?:\-{3</a:t>
            </a:r>
            <a:r>
              <a:rPr lang="en-US" altLang="ko-KR" dirty="0" smtClean="0"/>
              <a:t>})) : </a:t>
            </a:r>
            <a:r>
              <a:rPr lang="ko-KR" altLang="en-US" dirty="0" smtClean="0"/>
              <a:t>패턴 내부에 </a:t>
            </a:r>
            <a:r>
              <a:rPr lang="en-US" altLang="ko-KR" dirty="0" smtClean="0"/>
              <a:t>3</a:t>
            </a:r>
            <a:r>
              <a:rPr lang="ko-KR" altLang="en-US" dirty="0" smtClean="0"/>
              <a:t>문자와 </a:t>
            </a:r>
            <a:r>
              <a:rPr lang="en-US" altLang="ko-KR" dirty="0" smtClean="0"/>
              <a:t>-3</a:t>
            </a:r>
            <a:r>
              <a:rPr lang="ko-KR" altLang="en-US" dirty="0" smtClean="0"/>
              <a:t>자 중에 선택</a:t>
            </a:r>
            <a:endParaRPr lang="en-US" altLang="ko-KR" dirty="0" smtClean="0"/>
          </a:p>
          <a:p>
            <a:r>
              <a:rPr lang="en-US" altLang="ko-KR" dirty="0"/>
              <a:t>\d\d\d</a:t>
            </a:r>
            <a:r>
              <a:rPr lang="en-US" altLang="ko-KR" dirty="0" smtClean="0"/>
              <a:t>$“ : </a:t>
            </a:r>
            <a:r>
              <a:rPr lang="ko-KR" altLang="en-US" dirty="0" smtClean="0"/>
              <a:t>마지막에 숫자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720822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Group :</a:t>
            </a:r>
            <a:r>
              <a:rPr lang="en-US" altLang="ko-KR" dirty="0" err="1" smtClean="0"/>
              <a:t>subexpression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6847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하위표현패턴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828799"/>
          </a:xfrm>
        </p:spPr>
        <p:txBody>
          <a:bodyPr>
            <a:noAutofit/>
          </a:bodyPr>
          <a:lstStyle/>
          <a:p>
            <a:pPr marL="365760" lvl="1" indent="0">
              <a:lnSpc>
                <a:spcPct val="120000"/>
              </a:lnSpc>
              <a:buNone/>
            </a:pPr>
            <a:r>
              <a:rPr lang="ko-KR" altLang="en-US" sz="2800" dirty="0" smtClean="0"/>
              <a:t>기존패턴에 대해 추가적인 패턴을 적용할 경우 사용하는 패턴</a:t>
            </a:r>
            <a:endParaRPr lang="en-US" altLang="ko-KR" sz="28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83356653"/>
              </p:ext>
            </p:extLst>
          </p:nvPr>
        </p:nvGraphicFramePr>
        <p:xfrm>
          <a:off x="971600" y="3068960"/>
          <a:ext cx="7416824" cy="2758815"/>
        </p:xfrm>
        <a:graphic>
          <a:graphicData uri="http://schemas.openxmlformats.org/drawingml/2006/table">
            <a:tbl>
              <a:tblPr/>
              <a:tblGrid>
                <a:gridCol w="1841926"/>
                <a:gridCol w="5574898"/>
              </a:tblGrid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(?P=name)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1200" dirty="0" smtClean="0">
                          <a:effectLst/>
                        </a:rPr>
                        <a:t>기존에 정의된 네임 그룹을 참조해서 처리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200" dirty="0">
                          <a:effectLst/>
                        </a:rPr>
                        <a:t>(?#...)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1200" dirty="0" smtClean="0">
                          <a:effectLst/>
                        </a:rPr>
                        <a:t>주석처리 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(?=...)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전방탐색패턴</a:t>
                      </a:r>
                      <a:endParaRPr lang="en-US" altLang="ko-KR" sz="1200" dirty="0" smtClean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(?!...)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부정형전방탐색패턴</a:t>
                      </a:r>
                      <a:endParaRPr lang="en-US" altLang="ko-KR" sz="1200" dirty="0" smtClean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(?&lt;=...)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후방탐색패턴</a:t>
                      </a:r>
                      <a:endParaRPr lang="en-US" altLang="ko-KR" sz="1200" dirty="0" smtClean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459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(?&lt;!...)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부정형후방탐색패턴</a:t>
                      </a:r>
                      <a:endParaRPr lang="en-US" altLang="ko-KR" sz="1200" dirty="0" smtClean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(?(id/name)</a:t>
                      </a:r>
                      <a:r>
                        <a:rPr kumimoji="0" lang="en-US" altLang="ko-KR" sz="1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yes-pattern|no-pattern</a:t>
                      </a:r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1200" dirty="0" smtClean="0">
                          <a:effectLst/>
                        </a:rPr>
                        <a:t>미리 정의된 패턴에 대해 확인하고 그 패턴에 대한 추가 처리를 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72530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기존 네임그룹 참조</a:t>
            </a:r>
            <a:r>
              <a:rPr lang="en-US" altLang="ko-KR" b="1" dirty="0" smtClean="0"/>
              <a:t>(?P=name)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25273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b="1" dirty="0" smtClean="0"/>
              <a:t>기존 네임 그룹 패턴을 다시 사용해서 패턴 </a:t>
            </a:r>
            <a:r>
              <a:rPr lang="ko-KR" altLang="en-US" sz="2800" b="1" dirty="0" err="1" smtClean="0"/>
              <a:t>매칭</a:t>
            </a:r>
            <a:endParaRPr lang="en-US" altLang="ko-KR" sz="2800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74576848"/>
              </p:ext>
            </p:extLst>
          </p:nvPr>
        </p:nvGraphicFramePr>
        <p:xfrm>
          <a:off x="611560" y="3356992"/>
          <a:ext cx="7920880" cy="1060127"/>
        </p:xfrm>
        <a:graphic>
          <a:graphicData uri="http://schemas.openxmlformats.org/drawingml/2006/table">
            <a:tbl>
              <a:tblPr/>
              <a:tblGrid>
                <a:gridCol w="2736304"/>
                <a:gridCol w="2808312"/>
                <a:gridCol w="2376264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'(?P&lt;word&gt;\b\w+)\s+(?P=word)'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'Paris in the </a:t>
                      </a:r>
                      <a:r>
                        <a:rPr lang="en-US" altLang="ko-KR" sz="1800" dirty="0" err="1" smtClean="0">
                          <a:effectLst/>
                        </a:rPr>
                        <a:t>the</a:t>
                      </a:r>
                      <a:r>
                        <a:rPr lang="en-US" altLang="ko-KR" sz="1800" dirty="0" smtClean="0">
                          <a:effectLst/>
                        </a:rPr>
                        <a:t> spring'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'the </a:t>
                      </a:r>
                      <a:r>
                        <a:rPr lang="en-US" altLang="ko-KR" sz="1800" dirty="0" err="1" smtClean="0">
                          <a:effectLst/>
                        </a:rPr>
                        <a:t>the</a:t>
                      </a:r>
                      <a:r>
                        <a:rPr lang="en-US" altLang="ko-KR" sz="1800" dirty="0" smtClean="0">
                          <a:effectLst/>
                        </a:rPr>
                        <a:t>'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46710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주석</a:t>
            </a:r>
            <a:r>
              <a:rPr lang="en-US" altLang="ko-KR" b="1" dirty="0" smtClean="0"/>
              <a:t>(?#...)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25273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b="1" dirty="0" smtClean="0"/>
              <a:t>패턴에 대한 주석을 추가하여 설명하므로 정규식 </a:t>
            </a:r>
            <a:r>
              <a:rPr lang="ko-KR" altLang="en-US" sz="2800" b="1" dirty="0" err="1" smtClean="0"/>
              <a:t>패턴매칭에서는</a:t>
            </a:r>
            <a:r>
              <a:rPr lang="ko-KR" altLang="en-US" sz="2800" b="1" dirty="0" smtClean="0"/>
              <a:t> 무시됨 </a:t>
            </a: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47538116"/>
              </p:ext>
            </p:extLst>
          </p:nvPr>
        </p:nvGraphicFramePr>
        <p:xfrm>
          <a:off x="611560" y="3356992"/>
          <a:ext cx="7920880" cy="1060127"/>
        </p:xfrm>
        <a:graphic>
          <a:graphicData uri="http://schemas.openxmlformats.org/drawingml/2006/table">
            <a:tbl>
              <a:tblPr/>
              <a:tblGrid>
                <a:gridCol w="2736304"/>
                <a:gridCol w="2808312"/>
                <a:gridCol w="2376264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"[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].+(?# writing comments)"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81609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전방탐색</a:t>
            </a:r>
            <a:r>
              <a:rPr lang="en-US" altLang="ko-KR" b="1" dirty="0" smtClean="0"/>
              <a:t>(?=...)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0466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3300" b="1" dirty="0" smtClean="0"/>
              <a:t>작성된 패턴이 있어도 그 값이 제외된 후에 표시하는 패턴</a:t>
            </a:r>
            <a:endParaRPr lang="en-US" altLang="ko-KR" sz="3300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26355022"/>
              </p:ext>
            </p:extLst>
          </p:nvPr>
        </p:nvGraphicFramePr>
        <p:xfrm>
          <a:off x="611560" y="3356992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".+(?=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)", 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  <a:r>
                        <a:rPr lang="en-US" altLang="ko-KR" sz="1800" dirty="0" err="1" smtClean="0">
                          <a:effectLst/>
                        </a:rPr>
                        <a:t>vvvabc</a:t>
                      </a:r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err="1" smtClean="0">
                          <a:effectLst/>
                        </a:rPr>
                        <a:t>vvv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06827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부정형전방탐색</a:t>
            </a:r>
            <a:r>
              <a:rPr lang="en-US" altLang="ko-KR" b="1" dirty="0" smtClean="0"/>
              <a:t>(?!...)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0466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 smtClean="0"/>
              <a:t>전방탐색은 일치한 것을 탐색하지 부정형은 일치하지 않는 것을 탐색함</a:t>
            </a:r>
            <a:endParaRPr lang="en-US" altLang="ko-KR" sz="1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1929811"/>
              </p:ext>
            </p:extLst>
          </p:nvPr>
        </p:nvGraphicFramePr>
        <p:xfrm>
          <a:off x="611560" y="3356992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800" dirty="0" smtClean="0">
                          <a:effectLst/>
                        </a:rPr>
                        <a:t>".+(?!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)"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effectLst/>
                        </a:rPr>
                        <a:t>"xxx"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"xxx"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6499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후방탐색</a:t>
            </a:r>
            <a:r>
              <a:rPr lang="en-US" altLang="ko-KR" b="1" dirty="0"/>
              <a:t>(?&lt;=...)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0466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b="1" dirty="0" smtClean="0"/>
              <a:t>자기 패턴을 검색 후에 자신을 빼고 뒤에 일치하는 것을 표시</a:t>
            </a:r>
            <a:endParaRPr lang="en-US" altLang="ko-KR" sz="2800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2800" b="1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2601684"/>
              </p:ext>
            </p:extLst>
          </p:nvPr>
        </p:nvGraphicFramePr>
        <p:xfrm>
          <a:off x="611560" y="3356992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"(?&lt;=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).+", 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  <a:r>
                        <a:rPr lang="en-US" altLang="ko-KR" sz="1800" dirty="0" err="1" smtClean="0">
                          <a:effectLst/>
                        </a:rPr>
                        <a:t>vvvabcxxx</a:t>
                      </a:r>
                      <a:r>
                        <a:rPr lang="en-US" altLang="ko-KR" sz="1800" dirty="0" smtClean="0">
                          <a:effectLst/>
                        </a:rPr>
                        <a:t>"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xxx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97693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부정형후방탐색</a:t>
            </a:r>
            <a:r>
              <a:rPr lang="en-US" altLang="ko-KR" b="1" dirty="0" smtClean="0"/>
              <a:t>(?&lt;!...)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046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( ) </a:t>
            </a:r>
            <a:r>
              <a:rPr lang="ko-KR" altLang="en-US" sz="1800" dirty="0" smtClean="0"/>
              <a:t>내에 정규 </a:t>
            </a:r>
            <a:r>
              <a:rPr lang="ko-KR" altLang="en-US" sz="1800" dirty="0" err="1" smtClean="0"/>
              <a:t>표현식을</a:t>
            </a:r>
            <a:r>
              <a:rPr lang="ko-KR" altLang="en-US" sz="1800" dirty="0" smtClean="0"/>
              <a:t> 정의하고 특정 단어나 특정 그룹을 표시</a:t>
            </a:r>
            <a:endParaRPr lang="en-US" altLang="ko-KR" sz="1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44201201"/>
              </p:ext>
            </p:extLst>
          </p:nvPr>
        </p:nvGraphicFramePr>
        <p:xfrm>
          <a:off x="611560" y="3356992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"([</a:t>
                      </a:r>
                      <a:r>
                        <a:rPr lang="en-US" altLang="ko-KR" sz="1800" dirty="0" err="1" smtClean="0">
                          <a:effectLst/>
                        </a:rPr>
                        <a:t>abc</a:t>
                      </a:r>
                      <a:r>
                        <a:rPr lang="en-US" altLang="ko-KR" sz="1800" dirty="0" smtClean="0">
                          <a:effectLst/>
                        </a:rPr>
                        <a:t>]).+([</a:t>
                      </a:r>
                      <a:r>
                        <a:rPr lang="en-US" altLang="ko-KR" sz="1800" dirty="0" err="1" smtClean="0">
                          <a:effectLst/>
                        </a:rPr>
                        <a:t>def</a:t>
                      </a:r>
                      <a:r>
                        <a:rPr lang="en-US" altLang="ko-KR" sz="1800" dirty="0" smtClean="0">
                          <a:effectLst/>
                        </a:rPr>
                        <a:t>])"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effectLst/>
                        </a:rPr>
                        <a:t>"b===d==c"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b,</a:t>
                      </a:r>
                      <a:r>
                        <a:rPr lang="en-US" altLang="ko-KR" sz="1800" baseline="0" dirty="0" smtClean="0">
                          <a:effectLst/>
                        </a:rPr>
                        <a:t> d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96112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(?(</a:t>
            </a:r>
            <a:r>
              <a:rPr lang="en-US" altLang="ko-KR" b="1" dirty="0" smtClean="0"/>
              <a:t>id/name)yes…|no…)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211683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dirty="0" smtClean="0"/>
              <a:t>선행 패턴에 대해 추가패턴을 표시하고 실제 성공과 실패에 대한 추가적인 처리를 하는 패턴</a:t>
            </a:r>
            <a:endParaRPr lang="en-US" altLang="ko-KR" sz="28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err="1" smtClean="0"/>
              <a:t>Nopattern</a:t>
            </a:r>
            <a:r>
              <a:rPr lang="ko-KR" altLang="en-US" sz="2800" dirty="0" smtClean="0"/>
              <a:t>은 있으나 없으면 </a:t>
            </a:r>
            <a:r>
              <a:rPr lang="ko-KR" altLang="en-US" sz="2800" dirty="0" err="1" smtClean="0"/>
              <a:t>매핑이</a:t>
            </a:r>
            <a:r>
              <a:rPr lang="ko-KR" altLang="en-US" sz="2800" dirty="0" smtClean="0"/>
              <a:t> 안되므로 생략해도 됨</a:t>
            </a:r>
            <a:endParaRPr lang="en-US" altLang="ko-KR" sz="280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2800" dirty="0" smtClean="0"/>
              <a:t> </a:t>
            </a:r>
            <a:endParaRPr lang="en-US" altLang="ko-KR" sz="28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126264"/>
              </p:ext>
            </p:extLst>
          </p:nvPr>
        </p:nvGraphicFramePr>
        <p:xfrm>
          <a:off x="539552" y="4509120"/>
          <a:ext cx="7920880" cy="840094"/>
        </p:xfrm>
        <a:graphic>
          <a:graphicData uri="http://schemas.openxmlformats.org/drawingml/2006/table">
            <a:tbl>
              <a:tblPr/>
              <a:tblGrid>
                <a:gridCol w="2252015"/>
                <a:gridCol w="1924449"/>
                <a:gridCol w="3744416"/>
              </a:tblGrid>
              <a:tr h="420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정규식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문자열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0047"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1800" dirty="0" smtClean="0">
                          <a:effectLst/>
                        </a:rPr>
                        <a:t>'(a)(?(1)</a:t>
                      </a:r>
                      <a:r>
                        <a:rPr lang="en-US" altLang="ko-KR" sz="1800" dirty="0" err="1" smtClean="0">
                          <a:effectLst/>
                        </a:rPr>
                        <a:t>b|c</a:t>
                      </a:r>
                      <a:r>
                        <a:rPr lang="en-US" altLang="ko-KR" sz="1800" dirty="0" smtClean="0">
                          <a:effectLst/>
                        </a:rPr>
                        <a:t>)'</a:t>
                      </a:r>
                      <a:endParaRPr lang="en-US" altLang="ko-KR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effectLst/>
                        </a:rPr>
                        <a:t>'ab'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 smtClean="0">
                          <a:effectLst/>
                        </a:rPr>
                        <a:t>'b'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96951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 smtClean="0"/>
              <a:t>패턴변경자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422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Grouping(?</a:t>
            </a:r>
            <a:r>
              <a:rPr lang="en-US" altLang="ko-KR" b="1" dirty="0" err="1"/>
              <a:t>iLmsux</a:t>
            </a:r>
            <a:r>
              <a:rPr lang="en-US" altLang="ko-KR" b="1" dirty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1087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ko-KR" altLang="en-US" sz="2800" dirty="0" smtClean="0"/>
              <a:t>패턴 처리시 실제 작동하는 패턴의 플래그에 따른 지시에 따라 실행 </a:t>
            </a:r>
            <a:endParaRPr lang="en-US" altLang="ko-KR" sz="28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ko-KR" sz="1500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8485227"/>
              </p:ext>
            </p:extLst>
          </p:nvPr>
        </p:nvGraphicFramePr>
        <p:xfrm>
          <a:off x="827584" y="2852936"/>
          <a:ext cx="7416824" cy="1402080"/>
        </p:xfrm>
        <a:graphic>
          <a:graphicData uri="http://schemas.openxmlformats.org/drawingml/2006/table">
            <a:tbl>
              <a:tblPr/>
              <a:tblGrid>
                <a:gridCol w="1841926"/>
                <a:gridCol w="5574898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</a:t>
                      </a:r>
                      <a:r>
                        <a:rPr kumimoji="0" lang="en-US" altLang="ko-KR" sz="1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iLmsux</a:t>
                      </a:r>
                      <a:r>
                        <a:rPr kumimoji="0"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 err="1" smtClean="0">
                          <a:effectLst/>
                        </a:rPr>
                        <a:t>re.I</a:t>
                      </a:r>
                      <a:r>
                        <a:rPr lang="en-US" sz="1200" dirty="0" smtClean="0">
                          <a:effectLst/>
                        </a:rPr>
                        <a:t> (ignore case), </a:t>
                      </a:r>
                      <a:r>
                        <a:rPr lang="en-US" sz="1200" dirty="0" err="1" smtClean="0">
                          <a:effectLst/>
                        </a:rPr>
                        <a:t>re.L</a:t>
                      </a:r>
                      <a:r>
                        <a:rPr lang="en-US" sz="1200" dirty="0" smtClean="0">
                          <a:effectLst/>
                        </a:rPr>
                        <a:t> (locale dependent), </a:t>
                      </a:r>
                      <a:r>
                        <a:rPr lang="en-US" sz="1200" dirty="0" err="1" smtClean="0">
                          <a:effectLst/>
                        </a:rPr>
                        <a:t>re.M</a:t>
                      </a:r>
                      <a:r>
                        <a:rPr lang="en-US" sz="1200" dirty="0" smtClean="0">
                          <a:effectLst/>
                        </a:rPr>
                        <a:t> (multi-line), </a:t>
                      </a:r>
                      <a:r>
                        <a:rPr lang="en-US" sz="1200" dirty="0" err="1" smtClean="0">
                          <a:effectLst/>
                        </a:rPr>
                        <a:t>re.S</a:t>
                      </a:r>
                      <a:r>
                        <a:rPr lang="en-US" sz="1200" dirty="0" smtClean="0">
                          <a:effectLst/>
                        </a:rPr>
                        <a:t> (dot matches all), </a:t>
                      </a:r>
                      <a:r>
                        <a:rPr lang="en-US" sz="1200" dirty="0" err="1" smtClean="0">
                          <a:effectLst/>
                        </a:rPr>
                        <a:t>re.U</a:t>
                      </a:r>
                      <a:r>
                        <a:rPr lang="en-US" sz="1200" dirty="0" smtClean="0">
                          <a:effectLst/>
                        </a:rPr>
                        <a:t> (Unicode dependent), and </a:t>
                      </a:r>
                      <a:r>
                        <a:rPr lang="en-US" sz="1200" dirty="0" err="1" smtClean="0">
                          <a:effectLst/>
                        </a:rPr>
                        <a:t>re.X</a:t>
                      </a:r>
                      <a:r>
                        <a:rPr lang="en-US" sz="1200" dirty="0" smtClean="0">
                          <a:effectLst/>
                        </a:rPr>
                        <a:t> (verbose)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(?</a:t>
                      </a:r>
                      <a:r>
                        <a:rPr lang="en-US" sz="1200" dirty="0" err="1">
                          <a:effectLst/>
                        </a:rPr>
                        <a:t>imx</a:t>
                      </a:r>
                      <a:r>
                        <a:rPr lang="en-US" sz="1200" dirty="0">
                          <a:effectLst/>
                        </a:rPr>
                        <a:t>: re)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Temporarily toggles on </a:t>
                      </a:r>
                      <a:r>
                        <a:rPr lang="en-US" sz="1200" dirty="0" err="1">
                          <a:effectLst/>
                        </a:rPr>
                        <a:t>i</a:t>
                      </a:r>
                      <a:r>
                        <a:rPr lang="en-US" sz="1200" dirty="0">
                          <a:effectLst/>
                        </a:rPr>
                        <a:t>, m, or x options within parentheses.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(?-imx: re)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Temporarily toggles off </a:t>
                      </a:r>
                      <a:r>
                        <a:rPr lang="en-US" sz="1200" dirty="0" err="1">
                          <a:effectLst/>
                        </a:rPr>
                        <a:t>i</a:t>
                      </a:r>
                      <a:r>
                        <a:rPr lang="en-US" sz="1200" dirty="0">
                          <a:effectLst/>
                        </a:rPr>
                        <a:t>, m, or x options within parentheses.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12403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패턴변경자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-1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47811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sz="1800" dirty="0" err="1"/>
              <a:t>i</a:t>
            </a:r>
            <a:r>
              <a:rPr lang="en-US" altLang="ko-KR" sz="1800" dirty="0"/>
              <a:t> : </a:t>
            </a:r>
            <a:r>
              <a:rPr lang="ko-KR" altLang="en-US" sz="1800" dirty="0"/>
              <a:t>패턴을 대소문자 구분 없이 검사한다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 변경자를 사용할 경우 </a:t>
            </a:r>
            <a:r>
              <a:rPr lang="en-US" altLang="ko-KR" sz="1800" dirty="0"/>
              <a:t>[a-z]</a:t>
            </a:r>
            <a:r>
              <a:rPr lang="ko-KR" altLang="en-US" sz="1800" dirty="0"/>
              <a:t>로만 검사해도 자동으로 </a:t>
            </a:r>
            <a:r>
              <a:rPr lang="en-US" altLang="ko-KR" sz="1800" dirty="0"/>
              <a:t>[a-</a:t>
            </a:r>
            <a:r>
              <a:rPr lang="en-US" altLang="ko-KR" sz="1800" dirty="0" err="1"/>
              <a:t>zA</a:t>
            </a:r>
            <a:r>
              <a:rPr lang="en-US" altLang="ko-KR" sz="1800" dirty="0"/>
              <a:t>-Z]</a:t>
            </a:r>
            <a:r>
              <a:rPr lang="ko-KR" altLang="en-US" sz="1800" dirty="0"/>
              <a:t>와 같은 기능을 하게 된다</a:t>
            </a:r>
            <a:r>
              <a:rPr lang="en-US" altLang="ko-KR" sz="1800" dirty="0"/>
              <a:t>. </a:t>
            </a:r>
            <a:r>
              <a:rPr lang="ko-KR" altLang="en-US" sz="1800" dirty="0"/>
              <a:t>가장 많이 쓰이는 패턴</a:t>
            </a:r>
            <a:r>
              <a:rPr lang="en-US" altLang="ko-KR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800" dirty="0"/>
              <a:t>s : </a:t>
            </a:r>
            <a:r>
              <a:rPr lang="ko-KR" altLang="en-US" sz="1800" dirty="0"/>
              <a:t>임의의 한 문자를 가리키는 </a:t>
            </a:r>
            <a:r>
              <a:rPr lang="en-US" altLang="ko-KR" sz="1800" dirty="0"/>
              <a:t>. </a:t>
            </a:r>
            <a:r>
              <a:rPr lang="ko-KR" altLang="en-US" sz="1800" dirty="0"/>
              <a:t>메타 문자에 </a:t>
            </a:r>
            <a:r>
              <a:rPr lang="ko-KR" altLang="en-US" sz="1800" dirty="0" err="1"/>
              <a:t>개행</a:t>
            </a:r>
            <a:r>
              <a:rPr lang="ko-KR" altLang="en-US" sz="1800" dirty="0"/>
              <a:t> 문자</a:t>
            </a:r>
            <a:r>
              <a:rPr lang="en-US" altLang="ko-KR" sz="1800" dirty="0"/>
              <a:t>(\n)</a:t>
            </a:r>
            <a:r>
              <a:rPr lang="ko-KR" altLang="en-US" sz="1800" dirty="0"/>
              <a:t>도 포함시키도록 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 변경자를 사용하면 </a:t>
            </a:r>
            <a:r>
              <a:rPr lang="en-US" altLang="ko-KR" sz="1800" dirty="0"/>
              <a:t>.</a:t>
            </a:r>
            <a:r>
              <a:rPr lang="ko-KR" altLang="en-US" sz="1800" dirty="0"/>
              <a:t>이 </a:t>
            </a:r>
            <a:r>
              <a:rPr lang="ko-KR" altLang="en-US" sz="1800" dirty="0" err="1"/>
              <a:t>줄바꿈도</a:t>
            </a:r>
            <a:r>
              <a:rPr lang="ko-KR" altLang="en-US" sz="1800" dirty="0"/>
              <a:t> 임의의 한 문자로 취급하여 찾는다</a:t>
            </a:r>
            <a:r>
              <a:rPr lang="en-US" altLang="ko-KR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800" dirty="0"/>
              <a:t>m : </a:t>
            </a:r>
            <a:r>
              <a:rPr lang="ko-KR" altLang="en-US" sz="1800" dirty="0"/>
              <a:t>주어진 문자열에 </a:t>
            </a:r>
            <a:r>
              <a:rPr lang="ko-KR" altLang="en-US" sz="1800" dirty="0" err="1"/>
              <a:t>줄바꿈이</a:t>
            </a:r>
            <a:r>
              <a:rPr lang="ko-KR" altLang="en-US" sz="1800" dirty="0"/>
              <a:t> 있을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여러 줄로 취급하여 검사한다</a:t>
            </a:r>
            <a:r>
              <a:rPr lang="en-US" altLang="ko-KR" sz="1800" dirty="0"/>
              <a:t>. (</a:t>
            </a:r>
            <a:r>
              <a:rPr lang="ko-KR" altLang="en-US" sz="1800" dirty="0" err="1"/>
              <a:t>줄바꿈이</a:t>
            </a:r>
            <a:r>
              <a:rPr lang="ko-KR" altLang="en-US" sz="1800" dirty="0"/>
              <a:t> 없다면 써도 의미가 없다</a:t>
            </a:r>
            <a:r>
              <a:rPr lang="en-US" altLang="ko-KR" sz="1800" dirty="0"/>
              <a:t>.) </a:t>
            </a:r>
            <a:r>
              <a:rPr lang="ko-KR" altLang="en-US" sz="1800" dirty="0"/>
              <a:t>원래 </a:t>
            </a:r>
            <a:r>
              <a:rPr lang="ko-KR" altLang="en-US" sz="1800" dirty="0" err="1"/>
              <a:t>정규표현식을</a:t>
            </a:r>
            <a:r>
              <a:rPr lang="ko-KR" altLang="en-US" sz="1800" dirty="0"/>
              <a:t> 쓸 때 </a:t>
            </a:r>
            <a:r>
              <a:rPr lang="ko-KR" altLang="en-US" sz="1800" dirty="0" err="1"/>
              <a:t>줄바꿈은</a:t>
            </a:r>
            <a:r>
              <a:rPr lang="ko-KR" altLang="en-US" sz="1800" dirty="0"/>
              <a:t> 무시되는데</a:t>
            </a:r>
            <a:r>
              <a:rPr lang="en-US" altLang="ko-KR" sz="1800" dirty="0"/>
              <a:t>, </a:t>
            </a:r>
            <a:r>
              <a:rPr lang="ko-KR" altLang="en-US" sz="1800" dirty="0"/>
              <a:t>이걸 사용하면 </a:t>
            </a:r>
            <a:r>
              <a:rPr lang="ko-KR" altLang="en-US" sz="1800" dirty="0" err="1"/>
              <a:t>줄바꿈을</a:t>
            </a:r>
            <a:r>
              <a:rPr lang="ko-KR" altLang="en-US" sz="1800" dirty="0"/>
              <a:t> 적용해서 검사한다</a:t>
            </a:r>
            <a:r>
              <a:rPr lang="en-US" altLang="ko-KR" sz="1800" dirty="0"/>
              <a:t>. </a:t>
            </a:r>
            <a:r>
              <a:rPr lang="ko-KR" altLang="en-US" sz="1800" dirty="0"/>
              <a:t>그리고 </a:t>
            </a:r>
            <a:r>
              <a:rPr lang="en-US" altLang="ko-KR" sz="1800" dirty="0"/>
              <a:t>^</a:t>
            </a:r>
            <a:r>
              <a:rPr lang="ko-KR" altLang="en-US" sz="1800" dirty="0"/>
              <a:t>은 한 줄의 시작</a:t>
            </a:r>
            <a:r>
              <a:rPr lang="en-US" altLang="ko-KR" sz="1800" dirty="0"/>
              <a:t>, $</a:t>
            </a:r>
            <a:r>
              <a:rPr lang="ko-KR" altLang="en-US" sz="1800" dirty="0"/>
              <a:t>는 한 줄의 끝으로 의미가 달라진다</a:t>
            </a:r>
            <a:r>
              <a:rPr lang="en-US" altLang="ko-KR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800" dirty="0"/>
              <a:t>x : </a:t>
            </a:r>
            <a:r>
              <a:rPr lang="ko-KR" altLang="en-US" sz="1800" dirty="0"/>
              <a:t>공백 문자를 찾지 않고 무시해 버린다</a:t>
            </a:r>
            <a:r>
              <a:rPr lang="en-US" altLang="ko-KR" sz="1800" dirty="0"/>
              <a:t>. </a:t>
            </a:r>
            <a:r>
              <a:rPr lang="ko-KR" altLang="en-US" sz="1800" dirty="0"/>
              <a:t>단</a:t>
            </a:r>
            <a:r>
              <a:rPr lang="en-US" altLang="ko-KR" sz="1800" dirty="0"/>
              <a:t>, </a:t>
            </a:r>
            <a:r>
              <a:rPr lang="ko-KR" altLang="en-US" sz="1800" dirty="0"/>
              <a:t>이스케이프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역슬래쉬하고</a:t>
            </a:r>
            <a:r>
              <a:rPr lang="ko-KR" altLang="en-US" sz="1800" dirty="0"/>
              <a:t> 같이 쓸 경우</a:t>
            </a:r>
            <a:r>
              <a:rPr lang="en-US" altLang="ko-KR" sz="1800" dirty="0"/>
              <a:t>)</a:t>
            </a:r>
            <a:r>
              <a:rPr lang="ko-KR" altLang="en-US" sz="1800" dirty="0"/>
              <a:t>하거나 문자 클래스 안에 있을 경우에는 이걸 써도 공백을 찾는다</a:t>
            </a:r>
            <a:r>
              <a:rPr lang="en-US" altLang="ko-KR" sz="1800" dirty="0" smtClean="0"/>
              <a:t>.</a:t>
            </a:r>
          </a:p>
          <a:p>
            <a:pPr>
              <a:lnSpc>
                <a:spcPct val="110000"/>
              </a:lnSpc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xmlns="" val="1788338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패턴변경자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-2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47811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sz="1800" dirty="0" smtClean="0"/>
              <a:t>l : </a:t>
            </a:r>
            <a:r>
              <a:rPr lang="ko-KR" altLang="en-US" sz="1800" dirty="0" smtClean="0"/>
              <a:t>지역에 대한 처리 기준을 따름</a:t>
            </a:r>
            <a:r>
              <a:rPr lang="en-US" altLang="ko-KR" sz="1800" dirty="0" err="1"/>
              <a:t>re.LOCALEMake</a:t>
            </a:r>
            <a:r>
              <a:rPr lang="en-US" altLang="ko-KR" sz="1800" dirty="0"/>
              <a:t> \w, \W, \b, \B, \s and \S dependent on the current locale.</a:t>
            </a:r>
          </a:p>
          <a:p>
            <a:pPr>
              <a:lnSpc>
                <a:spcPct val="110000"/>
              </a:lnSpc>
            </a:pPr>
            <a:r>
              <a:rPr lang="en-US" altLang="ko-KR" sz="1800" dirty="0"/>
              <a:t>u</a:t>
            </a:r>
            <a:r>
              <a:rPr lang="en-US" altLang="ko-KR" sz="1800" dirty="0" smtClean="0"/>
              <a:t> : </a:t>
            </a:r>
            <a:r>
              <a:rPr lang="en-US" altLang="ko-KR" sz="1800" dirty="0" err="1"/>
              <a:t>unicode</a:t>
            </a:r>
            <a:r>
              <a:rPr lang="en-US" altLang="ko-KR" sz="1800" dirty="0"/>
              <a:t> </a:t>
            </a:r>
            <a:r>
              <a:rPr lang="ko-KR" altLang="en-US" sz="1800" dirty="0"/>
              <a:t>처리</a:t>
            </a:r>
            <a:endParaRPr lang="en-US" altLang="ko-KR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800" dirty="0"/>
              <a:t>     </a:t>
            </a:r>
            <a:r>
              <a:rPr lang="en-US" altLang="ko-KR" sz="1800" dirty="0" err="1"/>
              <a:t>re.Ure.UNICODEMake</a:t>
            </a:r>
            <a:r>
              <a:rPr lang="en-US" altLang="ko-KR" sz="1800" dirty="0"/>
              <a:t> \w, \W, \b, \B, \d, \D, \s and \S dependent on the Unicode character properties database.</a:t>
            </a:r>
          </a:p>
          <a:p>
            <a:pPr>
              <a:lnSpc>
                <a:spcPct val="110000"/>
              </a:lnSpc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xmlns="" val="1339073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62200" y="2852936"/>
            <a:ext cx="6477000" cy="3014464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dirty="0" smtClean="0"/>
              <a:t>Re </a:t>
            </a:r>
            <a:br>
              <a:rPr lang="en-US" altLang="ko-KR" sz="6000" dirty="0" smtClean="0"/>
            </a:br>
            <a:r>
              <a:rPr lang="en-US" altLang="ko-KR" sz="6000" dirty="0" smtClean="0"/>
              <a:t>Module</a:t>
            </a:r>
            <a:br>
              <a:rPr lang="en-US" altLang="ko-KR" sz="6000" dirty="0" smtClean="0"/>
            </a:br>
            <a:r>
              <a:rPr lang="ko-KR" altLang="en-US" sz="6000" dirty="0" smtClean="0"/>
              <a:t>처리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xmlns="" val="3449210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smtClean="0"/>
              <a:t>정규식  함수 방식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7225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정규식 정의 및 실행  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 </a:t>
            </a:r>
            <a:r>
              <a:rPr lang="en-US" altLang="ko-KR" sz="1800" dirty="0"/>
              <a:t>re </a:t>
            </a:r>
            <a:r>
              <a:rPr lang="ko-KR" altLang="en-US" sz="1800" dirty="0"/>
              <a:t>모듈은 </a:t>
            </a:r>
            <a:r>
              <a:rPr lang="ko-KR" altLang="en-US" sz="1800" dirty="0" err="1"/>
              <a:t>파이썬이</a:t>
            </a:r>
            <a:r>
              <a:rPr lang="ko-KR" altLang="en-US" sz="1800" dirty="0"/>
              <a:t> 설치될 때 자동으로 설치되는 기본 </a:t>
            </a:r>
            <a:r>
              <a:rPr lang="ko-KR" altLang="en-US" sz="1800" dirty="0" smtClean="0"/>
              <a:t>라이브러리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en-US" altLang="ko-KR" sz="1600" dirty="0"/>
              <a:t>p = </a:t>
            </a:r>
            <a:r>
              <a:rPr lang="en-US" altLang="ko-KR" sz="1600" dirty="0" err="1"/>
              <a:t>re.compile</a:t>
            </a:r>
            <a:r>
              <a:rPr lang="en-US" altLang="ko-KR" sz="1600" dirty="0"/>
              <a:t>('ab*', </a:t>
            </a:r>
            <a:r>
              <a:rPr lang="en-US" altLang="ko-KR" sz="1600" dirty="0" err="1"/>
              <a:t>re.IGNORECASE</a:t>
            </a:r>
            <a:r>
              <a:rPr lang="en-US" altLang="ko-KR" sz="1600" dirty="0" smtClean="0"/>
              <a:t>) : </a:t>
            </a:r>
            <a:r>
              <a:rPr lang="en-US" altLang="ko-KR" sz="1800" dirty="0" err="1" smtClean="0"/>
              <a:t>re.IGNORECASE</a:t>
            </a:r>
            <a:r>
              <a:rPr lang="en-US" altLang="ko-KR" sz="1800" dirty="0" smtClean="0"/>
              <a:t> </a:t>
            </a:r>
            <a:r>
              <a:rPr lang="ko-KR" altLang="en-US" sz="1800" dirty="0"/>
              <a:t>옵션이 의미하는 것은 대소문자를 구분하지 </a:t>
            </a:r>
            <a:r>
              <a:rPr lang="ko-KR" altLang="en-US" sz="1800" dirty="0" smtClean="0"/>
              <a:t>않</a:t>
            </a:r>
            <a:r>
              <a:rPr lang="ko-KR" altLang="en-US" sz="1800" dirty="0"/>
              <a:t>음</a:t>
            </a:r>
            <a:endParaRPr lang="en-US" altLang="ko-KR" sz="1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755576" y="2924944"/>
            <a:ext cx="3888432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/>
              <a:t>&gt;&gt;&gt; </a:t>
            </a:r>
            <a:r>
              <a:rPr lang="en-US" altLang="ko-KR" sz="1200" dirty="0" smtClean="0"/>
              <a:t>import</a:t>
            </a:r>
            <a:r>
              <a:rPr lang="ko-KR" altLang="en-US" sz="1200" dirty="0" smtClean="0"/>
              <a:t>  </a:t>
            </a:r>
            <a:r>
              <a:rPr lang="en-US" altLang="ko-KR" sz="1200" dirty="0" smtClean="0"/>
              <a:t>re</a:t>
            </a:r>
          </a:p>
          <a:p>
            <a:r>
              <a:rPr lang="en-US" altLang="ko-KR" sz="1200" dirty="0" smtClean="0"/>
              <a:t>&gt;&gt;&gt; mat </a:t>
            </a:r>
            <a:r>
              <a:rPr lang="en-US" altLang="ko-KR" sz="1200" dirty="0"/>
              <a:t>= </a:t>
            </a:r>
            <a:r>
              <a:rPr lang="en-US" altLang="ko-KR" sz="1200" dirty="0" err="1"/>
              <a:t>re.compile</a:t>
            </a:r>
            <a:r>
              <a:rPr lang="en-US" altLang="ko-KR" sz="1200" dirty="0"/>
              <a:t>("[a-z</a:t>
            </a:r>
            <a:r>
              <a:rPr lang="en-US" altLang="ko-KR" sz="1200" dirty="0" smtClean="0"/>
              <a:t>]+")</a:t>
            </a:r>
          </a:p>
          <a:p>
            <a:r>
              <a:rPr lang="en-US" altLang="ko-KR" sz="1200" dirty="0"/>
              <a:t>&gt;&gt;&gt; mat</a:t>
            </a:r>
          </a:p>
          <a:p>
            <a:r>
              <a:rPr lang="en-US" altLang="ko-KR" sz="1200" dirty="0"/>
              <a:t>&lt;_</a:t>
            </a:r>
            <a:r>
              <a:rPr lang="en-US" altLang="ko-KR" sz="1200" dirty="0" err="1"/>
              <a:t>sre.SRE_Pattern</a:t>
            </a:r>
            <a:r>
              <a:rPr lang="en-US" altLang="ko-KR" sz="1200" dirty="0"/>
              <a:t> object at 0x063D2C60&gt;</a:t>
            </a:r>
          </a:p>
          <a:p>
            <a:r>
              <a:rPr lang="en-US" altLang="ko-KR" sz="1200" dirty="0"/>
              <a:t>&gt;&gt;&gt; </a:t>
            </a:r>
          </a:p>
          <a:p>
            <a:endParaRPr lang="en-US" altLang="ko-KR" sz="12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777328" y="4941168"/>
            <a:ext cx="388843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/>
              <a:t>&gt;&gt;&gt; m = </a:t>
            </a:r>
            <a:r>
              <a:rPr lang="en-US" altLang="ko-KR" sz="1200" dirty="0" err="1"/>
              <a:t>re.match</a:t>
            </a:r>
            <a:r>
              <a:rPr lang="en-US" altLang="ko-KR" sz="1200" dirty="0"/>
              <a:t>('[a-z]+', "python")</a:t>
            </a:r>
          </a:p>
          <a:p>
            <a:r>
              <a:rPr lang="en-US" altLang="ko-KR" sz="1200" dirty="0"/>
              <a:t>&gt;&gt;&gt; </a:t>
            </a:r>
            <a:r>
              <a:rPr lang="en-US" altLang="ko-KR" sz="1200" dirty="0" err="1"/>
              <a:t>m.group</a:t>
            </a:r>
            <a:r>
              <a:rPr lang="en-US" altLang="ko-KR" sz="1200" dirty="0"/>
              <a:t>()</a:t>
            </a:r>
          </a:p>
          <a:p>
            <a:r>
              <a:rPr lang="en-US" altLang="ko-KR" sz="1200" dirty="0"/>
              <a:t>'python'</a:t>
            </a:r>
          </a:p>
          <a:p>
            <a:r>
              <a:rPr lang="en-US" altLang="ko-KR" sz="1200" dirty="0"/>
              <a:t>&gt;&gt;&gt; mo2 = </a:t>
            </a:r>
            <a:r>
              <a:rPr lang="en-US" altLang="ko-KR" sz="1200" dirty="0" err="1"/>
              <a:t>re.match</a:t>
            </a:r>
            <a:r>
              <a:rPr lang="en-US" altLang="ko-KR" sz="1200" dirty="0"/>
              <a:t>("[a-z]+","</a:t>
            </a:r>
            <a:r>
              <a:rPr lang="en-US" altLang="ko-KR" sz="1200" dirty="0" err="1"/>
              <a:t>abc</a:t>
            </a:r>
            <a:r>
              <a:rPr lang="en-US" altLang="ko-KR" sz="1200" dirty="0"/>
              <a:t>")</a:t>
            </a:r>
          </a:p>
          <a:p>
            <a:r>
              <a:rPr lang="en-US" altLang="ko-KR" sz="1200" dirty="0"/>
              <a:t>&gt;&gt;&gt; mo2.group()</a:t>
            </a:r>
          </a:p>
          <a:p>
            <a:r>
              <a:rPr lang="en-US" altLang="ko-KR" sz="1200" dirty="0"/>
              <a:t>'</a:t>
            </a:r>
            <a:r>
              <a:rPr lang="en-US" altLang="ko-KR" sz="1200" dirty="0" err="1"/>
              <a:t>abc</a:t>
            </a:r>
            <a:r>
              <a:rPr lang="en-US" altLang="ko-KR" sz="1200" dirty="0"/>
              <a:t>'</a:t>
            </a:r>
          </a:p>
          <a:p>
            <a:r>
              <a:rPr lang="en-US" altLang="ko-KR" sz="1200" dirty="0"/>
              <a:t>&gt;&gt;&gt; </a:t>
            </a:r>
            <a:endParaRPr lang="en-US" altLang="ko-KR" sz="12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975520" y="3140968"/>
            <a:ext cx="312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Comile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함수를 사용하여 실행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04048" y="5302078"/>
            <a:ext cx="3124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함수를 이용한 모듈 </a:t>
            </a:r>
            <a:r>
              <a:rPr lang="ko-KR" altLang="en-US" b="1" dirty="0"/>
              <a:t>단위로 수행</a:t>
            </a:r>
          </a:p>
          <a:p>
            <a:r>
              <a:rPr lang="ko-KR" altLang="en-US" dirty="0" smtClean="0"/>
              <a:t> </a:t>
            </a:r>
            <a:r>
              <a:rPr lang="ko-KR" altLang="en-US" sz="1200" dirty="0" smtClean="0"/>
              <a:t>직접 </a:t>
            </a:r>
            <a:r>
              <a:rPr lang="en-US" altLang="ko-KR" sz="1200" dirty="0" smtClean="0"/>
              <a:t>re </a:t>
            </a:r>
            <a:r>
              <a:rPr lang="ko-KR" altLang="en-US" sz="1200" dirty="0" smtClean="0"/>
              <a:t>패키지 내의 함수</a:t>
            </a:r>
            <a:r>
              <a:rPr lang="en-US" altLang="ko-KR" sz="1200" dirty="0" smtClean="0"/>
              <a:t>(match()</a:t>
            </a:r>
            <a:r>
              <a:rPr lang="ko-KR" altLang="en-US" sz="1200" dirty="0" smtClean="0"/>
              <a:t>함수 등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를 사용하여 실행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692762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정규식 처리하기</a:t>
            </a:r>
            <a:r>
              <a:rPr lang="en-US" altLang="ko-KR" b="1" dirty="0" smtClean="0"/>
              <a:t>(1/2)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628800"/>
            <a:ext cx="8229600" cy="67667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/>
              <a:t>1. </a:t>
            </a:r>
            <a:r>
              <a:rPr lang="ko-KR" altLang="en-US" sz="1800" dirty="0" smtClean="0"/>
              <a:t>정규식 객체 생성</a:t>
            </a:r>
            <a:endParaRPr lang="en-US" altLang="ko-KR" sz="1800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1259632" y="2276872"/>
            <a:ext cx="532859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/>
              <a:t>&gt;&gt;&gt; import re</a:t>
            </a:r>
          </a:p>
          <a:p>
            <a:r>
              <a:rPr lang="en-US" altLang="ko-KR" sz="900" dirty="0"/>
              <a:t>&gt;&gt;&gt; p = </a:t>
            </a:r>
            <a:r>
              <a:rPr lang="en-US" altLang="ko-KR" sz="900" dirty="0" err="1"/>
              <a:t>re.compile</a:t>
            </a:r>
            <a:r>
              <a:rPr lang="en-US" altLang="ko-KR" sz="900" dirty="0"/>
              <a:t>("[a-zA-Z0-9]+")</a:t>
            </a:r>
          </a:p>
          <a:p>
            <a:r>
              <a:rPr lang="en-US" altLang="ko-KR" sz="900" dirty="0"/>
              <a:t>&gt;&gt;&gt; p</a:t>
            </a:r>
          </a:p>
          <a:p>
            <a:r>
              <a:rPr lang="en-US" altLang="ko-KR" sz="900" dirty="0"/>
              <a:t>&lt;_</a:t>
            </a:r>
            <a:r>
              <a:rPr lang="en-US" altLang="ko-KR" sz="900" dirty="0" err="1"/>
              <a:t>sre.SRE_Pattern</a:t>
            </a:r>
            <a:r>
              <a:rPr lang="en-US" altLang="ko-KR" sz="900" dirty="0"/>
              <a:t> object at 0x06506570&gt;</a:t>
            </a:r>
          </a:p>
          <a:p>
            <a:r>
              <a:rPr lang="en-US" altLang="ko-KR" sz="900" dirty="0"/>
              <a:t>&gt;&gt;&gt; </a:t>
            </a:r>
            <a:r>
              <a:rPr lang="en-US" altLang="ko-KR" sz="900" dirty="0" err="1"/>
              <a:t>p.__class</a:t>
            </a:r>
            <a:r>
              <a:rPr lang="en-US" altLang="ko-KR" sz="900" dirty="0"/>
              <a:t>__</a:t>
            </a:r>
          </a:p>
          <a:p>
            <a:r>
              <a:rPr lang="en-US" altLang="ko-KR" sz="900" dirty="0"/>
              <a:t>&lt;type '_</a:t>
            </a:r>
            <a:r>
              <a:rPr lang="en-US" altLang="ko-KR" sz="900" dirty="0" err="1"/>
              <a:t>sre.SRE_Pattern</a:t>
            </a:r>
            <a:r>
              <a:rPr lang="en-US" altLang="ko-KR" sz="900" dirty="0"/>
              <a:t>'&gt;</a:t>
            </a:r>
          </a:p>
          <a:p>
            <a:r>
              <a:rPr lang="en-US" altLang="ko-KR" sz="900" dirty="0"/>
              <a:t>&gt;&gt;&gt; </a:t>
            </a:r>
            <a:r>
              <a:rPr lang="en-US" altLang="ko-KR" sz="900" dirty="0" err="1"/>
              <a:t>p.__class__.__name</a:t>
            </a:r>
            <a:r>
              <a:rPr lang="en-US" altLang="ko-KR" sz="900" dirty="0"/>
              <a:t>__</a:t>
            </a:r>
          </a:p>
          <a:p>
            <a:r>
              <a:rPr lang="en-US" altLang="ko-KR" sz="900" dirty="0"/>
              <a:t>'</a:t>
            </a:r>
            <a:r>
              <a:rPr lang="en-US" altLang="ko-KR" sz="900" dirty="0" err="1"/>
              <a:t>SRE_Pattern</a:t>
            </a:r>
            <a:r>
              <a:rPr lang="en-US" altLang="ko-KR" sz="900" dirty="0"/>
              <a:t>'</a:t>
            </a:r>
          </a:p>
          <a:p>
            <a:r>
              <a:rPr lang="en-US" altLang="ko-KR" sz="900" dirty="0"/>
              <a:t>&gt;&gt;&gt;</a:t>
            </a:r>
            <a:endParaRPr lang="ko-KR" altLang="en-US" sz="900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4149080"/>
            <a:ext cx="8229600" cy="67667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/>
              <a:t>2. </a:t>
            </a:r>
            <a:r>
              <a:rPr lang="ko-KR" altLang="en-US" sz="1800" dirty="0" smtClean="0"/>
              <a:t>정규식 패턴 </a:t>
            </a:r>
            <a:r>
              <a:rPr lang="ko-KR" altLang="en-US" sz="1800" dirty="0" err="1" smtClean="0"/>
              <a:t>매칭을</a:t>
            </a:r>
            <a:r>
              <a:rPr lang="ko-KR" altLang="en-US" sz="1800" dirty="0" smtClean="0"/>
              <a:t> 위한 </a:t>
            </a:r>
            <a:r>
              <a:rPr lang="en-US" altLang="ko-KR" sz="1800" dirty="0" smtClean="0"/>
              <a:t>Match object </a:t>
            </a:r>
            <a:r>
              <a:rPr lang="ko-KR" altLang="en-US" sz="1800" dirty="0" smtClean="0"/>
              <a:t>생성</a:t>
            </a:r>
            <a:endParaRPr lang="en-US" altLang="ko-KR" sz="1800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1115616" y="4653136"/>
            <a:ext cx="532859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/>
              <a:t>&gt;&gt;&gt; m = </a:t>
            </a:r>
            <a:r>
              <a:rPr lang="en-US" altLang="ko-KR" sz="900" dirty="0" err="1"/>
              <a:t>p.match</a:t>
            </a:r>
            <a:r>
              <a:rPr lang="en-US" altLang="ko-KR" sz="900" dirty="0"/>
              <a:t>("python")</a:t>
            </a:r>
          </a:p>
          <a:p>
            <a:r>
              <a:rPr lang="en-US" altLang="ko-KR" sz="900" dirty="0"/>
              <a:t>&gt;&gt;&gt; m</a:t>
            </a:r>
          </a:p>
          <a:p>
            <a:r>
              <a:rPr lang="en-US" altLang="ko-KR" sz="900" dirty="0"/>
              <a:t>&lt;_</a:t>
            </a:r>
            <a:r>
              <a:rPr lang="en-US" altLang="ko-KR" sz="900" dirty="0" err="1"/>
              <a:t>sre.SRE_Match</a:t>
            </a:r>
            <a:r>
              <a:rPr lang="en-US" altLang="ko-KR" sz="900" dirty="0"/>
              <a:t> object at 0x06556AA0&gt;</a:t>
            </a:r>
          </a:p>
          <a:p>
            <a:r>
              <a:rPr lang="en-US" altLang="ko-KR" sz="900" dirty="0"/>
              <a:t>&gt;&gt;&gt; </a:t>
            </a:r>
            <a:r>
              <a:rPr lang="en-US" altLang="ko-KR" sz="900" dirty="0" err="1"/>
              <a:t>m.__class__.__name</a:t>
            </a:r>
            <a:r>
              <a:rPr lang="en-US" altLang="ko-KR" sz="900" dirty="0"/>
              <a:t>__</a:t>
            </a:r>
          </a:p>
          <a:p>
            <a:r>
              <a:rPr lang="en-US" altLang="ko-KR" sz="900" dirty="0"/>
              <a:t>'</a:t>
            </a:r>
            <a:r>
              <a:rPr lang="en-US" altLang="ko-KR" sz="900" dirty="0" err="1"/>
              <a:t>SRE_Match</a:t>
            </a:r>
            <a:r>
              <a:rPr lang="en-US" altLang="ko-KR" sz="900" dirty="0"/>
              <a:t>'</a:t>
            </a:r>
          </a:p>
          <a:p>
            <a:r>
              <a:rPr lang="en-US" altLang="ko-KR" sz="900" dirty="0"/>
              <a:t>&gt;&gt;&gt;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25189911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정규식 처리하기</a:t>
            </a:r>
            <a:r>
              <a:rPr lang="en-US" altLang="ko-KR" b="1" dirty="0" smtClean="0"/>
              <a:t>(2/2)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628800"/>
            <a:ext cx="8229600" cy="67667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정규식 패턴 </a:t>
            </a:r>
            <a:r>
              <a:rPr lang="ko-KR" altLang="en-US" sz="1800" dirty="0" err="1" smtClean="0"/>
              <a:t>매칭</a:t>
            </a:r>
            <a:r>
              <a:rPr lang="ko-KR" altLang="en-US" sz="1800" dirty="0" smtClean="0"/>
              <a:t> 결과를 확인</a:t>
            </a:r>
            <a:endParaRPr lang="en-US" altLang="ko-KR" sz="1800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1259632" y="2276872"/>
            <a:ext cx="532859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/>
              <a:t>&gt;&gt;&gt; </a:t>
            </a:r>
            <a:r>
              <a:rPr lang="en-US" altLang="ko-KR" sz="900" dirty="0" err="1"/>
              <a:t>m.group</a:t>
            </a:r>
            <a:r>
              <a:rPr lang="en-US" altLang="ko-KR" sz="900" dirty="0"/>
              <a:t>()</a:t>
            </a:r>
          </a:p>
          <a:p>
            <a:r>
              <a:rPr lang="en-US" altLang="ko-KR" sz="900" dirty="0"/>
              <a:t>'python'</a:t>
            </a:r>
          </a:p>
          <a:p>
            <a:r>
              <a:rPr lang="en-US" altLang="ko-KR" sz="900" dirty="0"/>
              <a:t>&gt;&gt;&gt; </a:t>
            </a:r>
            <a:r>
              <a:rPr lang="en-US" altLang="ko-KR" sz="900" dirty="0" err="1"/>
              <a:t>m.span</a:t>
            </a:r>
            <a:r>
              <a:rPr lang="en-US" altLang="ko-KR" sz="900" dirty="0"/>
              <a:t>()</a:t>
            </a:r>
          </a:p>
          <a:p>
            <a:r>
              <a:rPr lang="en-US" altLang="ko-KR" sz="900" dirty="0"/>
              <a:t>(0, 6)</a:t>
            </a:r>
          </a:p>
          <a:p>
            <a:r>
              <a:rPr lang="en-US" altLang="ko-KR" sz="900" dirty="0"/>
              <a:t>&gt;&gt;&gt;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3095044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Compile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2883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 smtClean="0"/>
              <a:t>정규표현식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-Compile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229600" cy="24482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정규표현식</a:t>
            </a:r>
            <a:r>
              <a:rPr lang="ko-KR" altLang="en-US" sz="1800" dirty="0" smtClean="0"/>
              <a:t> 패턴객체 생성한 후 </a:t>
            </a:r>
            <a:r>
              <a:rPr lang="ko-KR" altLang="en-US" sz="1800" dirty="0" err="1" smtClean="0"/>
              <a:t>매칭을</a:t>
            </a:r>
            <a:r>
              <a:rPr lang="ko-KR" altLang="en-US" sz="1800" dirty="0" smtClean="0"/>
              <a:t> 시키는 객체를 생성하여 처리하는 방법</a:t>
            </a:r>
            <a:endParaRPr lang="en-US" altLang="ko-KR" sz="1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Compile options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DOTALL</a:t>
            </a:r>
            <a:r>
              <a:rPr lang="en-US" altLang="ko-KR" sz="1200" dirty="0"/>
              <a:t>, S - . 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줄바꿈</a:t>
            </a:r>
            <a:r>
              <a:rPr lang="ko-KR" altLang="en-US" sz="1200" dirty="0"/>
              <a:t> 문자를 포함하여 모든 </a:t>
            </a:r>
            <a:r>
              <a:rPr lang="ko-KR" altLang="en-US" sz="1200" dirty="0" smtClean="0"/>
              <a:t>문자</a:t>
            </a:r>
            <a:endParaRPr lang="en-US" altLang="ko-KR" sz="1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sz="1200" dirty="0"/>
              <a:t>IGNORECASE, I - </a:t>
            </a:r>
            <a:r>
              <a:rPr lang="ko-KR" altLang="en-US" sz="1200" dirty="0"/>
              <a:t>대소문자에 관계없이 </a:t>
            </a:r>
            <a:r>
              <a:rPr lang="ko-KR" altLang="en-US" sz="1200" dirty="0" smtClean="0"/>
              <a:t>매치</a:t>
            </a:r>
            <a:endParaRPr lang="en-US" altLang="ko-KR" sz="1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sz="1200" dirty="0"/>
              <a:t>MULTILINE, M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여러 줄과 매치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(^, $ </a:t>
            </a:r>
            <a:r>
              <a:rPr lang="ko-KR" altLang="en-US" sz="1200" dirty="0"/>
              <a:t>메타문자의 사용과 관계가 있는 </a:t>
            </a:r>
            <a:r>
              <a:rPr lang="ko-KR" altLang="en-US" sz="1200" dirty="0" smtClean="0"/>
              <a:t>옵션</a:t>
            </a:r>
            <a:r>
              <a:rPr lang="en-US" altLang="ko-KR" sz="1200" dirty="0" smtClean="0"/>
              <a:t>)</a:t>
            </a:r>
            <a:endParaRPr lang="en-US" altLang="ko-KR" sz="1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sz="1200" dirty="0"/>
              <a:t>VERBOSE, X - verbose </a:t>
            </a:r>
            <a:r>
              <a:rPr lang="ko-KR" altLang="en-US" sz="1200" dirty="0"/>
              <a:t>모드를 </a:t>
            </a:r>
            <a:r>
              <a:rPr lang="ko-KR" altLang="en-US" sz="1200" dirty="0" smtClean="0"/>
              <a:t>사용</a:t>
            </a:r>
            <a:r>
              <a:rPr lang="en-US" altLang="ko-KR" sz="1200" dirty="0" smtClean="0"/>
              <a:t>(</a:t>
            </a:r>
            <a:r>
              <a:rPr lang="ko-KR" altLang="en-US" sz="1200" dirty="0"/>
              <a:t>정규식을 보기 편하게 </a:t>
            </a:r>
            <a:r>
              <a:rPr lang="ko-KR" altLang="en-US" sz="1200" dirty="0" err="1"/>
              <a:t>만들수</a:t>
            </a:r>
            <a:r>
              <a:rPr lang="ko-KR" altLang="en-US" sz="1200" dirty="0"/>
              <a:t> 있고 </a:t>
            </a:r>
            <a:r>
              <a:rPr lang="ko-KR" altLang="en-US" sz="1200" dirty="0" smtClean="0"/>
              <a:t>주석 등을 사용</a:t>
            </a:r>
            <a:r>
              <a:rPr lang="en-US" altLang="ko-KR" sz="1200" dirty="0" smtClean="0"/>
              <a:t>)</a:t>
            </a:r>
            <a:endParaRPr lang="en-US" altLang="ko-KR" sz="1200" dirty="0"/>
          </a:p>
        </p:txBody>
      </p:sp>
      <p:sp>
        <p:nvSpPr>
          <p:cNvPr id="4" name="직사각형 3"/>
          <p:cNvSpPr/>
          <p:nvPr/>
        </p:nvSpPr>
        <p:spPr>
          <a:xfrm>
            <a:off x="971600" y="4797152"/>
            <a:ext cx="345638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('.*')</a:t>
            </a:r>
          </a:p>
          <a:p>
            <a:r>
              <a:rPr lang="en-US" altLang="ko-KR" sz="1000" dirty="0"/>
              <a:t>&lt;_</a:t>
            </a:r>
            <a:r>
              <a:rPr lang="en-US" altLang="ko-KR" sz="1000" dirty="0" err="1"/>
              <a:t>sre.SRE_Pattern</a:t>
            </a:r>
            <a:r>
              <a:rPr lang="en-US" altLang="ko-KR" sz="1000" dirty="0"/>
              <a:t> object at 0x064AB2A8&gt;</a:t>
            </a:r>
          </a:p>
          <a:p>
            <a:r>
              <a:rPr lang="en-US" altLang="ko-KR" sz="1000" dirty="0"/>
              <a:t>&gt;&gt;&gt;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4149676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Compile Options- </a:t>
            </a:r>
            <a:r>
              <a:rPr lang="en-US" altLang="ko-KR" dirty="0"/>
              <a:t>DOTALL, S 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229600" cy="11521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en-US" altLang="ko-KR" sz="1800" dirty="0"/>
              <a:t>.</a:t>
            </a:r>
            <a:r>
              <a:rPr lang="ko-KR" altLang="en-US" sz="1800" dirty="0"/>
              <a:t> 메타문자는 </a:t>
            </a:r>
            <a:r>
              <a:rPr lang="ko-KR" altLang="en-US" sz="1800" dirty="0" err="1"/>
              <a:t>줄바꿈</a:t>
            </a:r>
            <a:r>
              <a:rPr lang="ko-KR" altLang="en-US" sz="1800" dirty="0"/>
              <a:t> 문자</a:t>
            </a:r>
            <a:r>
              <a:rPr lang="en-US" altLang="ko-KR" sz="1800" dirty="0"/>
              <a:t>(\n)</a:t>
            </a:r>
            <a:r>
              <a:rPr lang="ko-KR" altLang="en-US" sz="1800" dirty="0"/>
              <a:t>를 제외한 모든 문자와 매치되는 규칙이 있다</a:t>
            </a:r>
            <a:r>
              <a:rPr lang="en-US" altLang="ko-KR" sz="1800" dirty="0"/>
              <a:t>. </a:t>
            </a:r>
            <a:r>
              <a:rPr lang="ko-KR" altLang="en-US" sz="1800" dirty="0"/>
              <a:t>하지만 </a:t>
            </a:r>
            <a:r>
              <a:rPr lang="en-US" altLang="ko-KR" sz="1800" dirty="0"/>
              <a:t>\n</a:t>
            </a:r>
            <a:r>
              <a:rPr lang="ko-KR" altLang="en-US" sz="1800" dirty="0"/>
              <a:t> 문자도 포함하여 매치하고 싶은 경우에는</a:t>
            </a:r>
            <a:r>
              <a:rPr lang="en-US" altLang="ko-KR" sz="1800" dirty="0" err="1"/>
              <a:t>re.DOTALL</a:t>
            </a:r>
            <a:r>
              <a:rPr lang="ko-KR" altLang="en-US" sz="1800" dirty="0"/>
              <a:t> 또는 </a:t>
            </a:r>
            <a:r>
              <a:rPr lang="en-US" altLang="ko-KR" sz="1800" dirty="0" err="1"/>
              <a:t>re.S</a:t>
            </a:r>
            <a:r>
              <a:rPr lang="ko-KR" altLang="en-US" sz="1800" dirty="0"/>
              <a:t> 옵션으로 정규식을 </a:t>
            </a:r>
            <a:r>
              <a:rPr lang="ko-KR" altLang="en-US" sz="1800" dirty="0" err="1"/>
              <a:t>컴파일하면</a:t>
            </a:r>
            <a:r>
              <a:rPr lang="ko-KR" altLang="en-US" sz="1800" dirty="0"/>
              <a:t> 된다</a:t>
            </a:r>
            <a:r>
              <a:rPr lang="en-US" altLang="ko-KR" sz="1800" dirty="0"/>
              <a:t>.</a:t>
            </a:r>
            <a:endParaRPr lang="en-US" altLang="ko-KR" sz="1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944208" y="3429000"/>
            <a:ext cx="3456384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SS 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('.</a:t>
            </a:r>
            <a:r>
              <a:rPr lang="en-US" altLang="ko-KR" sz="1000" dirty="0" err="1"/>
              <a:t>ake</a:t>
            </a:r>
            <a:r>
              <a:rPr lang="en-US" altLang="ko-KR" sz="1000" dirty="0"/>
              <a:t>')</a:t>
            </a:r>
          </a:p>
          <a:p>
            <a:r>
              <a:rPr lang="en-US" altLang="ko-KR" sz="1000" dirty="0"/>
              <a:t>&gt;&gt;&gt; RR = </a:t>
            </a:r>
            <a:r>
              <a:rPr lang="en-US" altLang="ko-KR" sz="1000" dirty="0" err="1"/>
              <a:t>SS.match</a:t>
            </a:r>
            <a:r>
              <a:rPr lang="en-US" altLang="ko-KR" sz="1000" dirty="0"/>
              <a:t>('\</a:t>
            </a:r>
            <a:r>
              <a:rPr lang="en-US" altLang="ko-KR" sz="1000" dirty="0" err="1"/>
              <a:t>nake</a:t>
            </a:r>
            <a:r>
              <a:rPr lang="en-US" altLang="ko-KR" sz="1000" dirty="0"/>
              <a:t>')</a:t>
            </a:r>
          </a:p>
          <a:p>
            <a:r>
              <a:rPr lang="en-US" altLang="ko-KR" sz="1000" dirty="0"/>
              <a:t>&gt;&gt;&gt; RR</a:t>
            </a:r>
          </a:p>
          <a:p>
            <a:r>
              <a:rPr lang="en-US" altLang="ko-KR" sz="1000" dirty="0"/>
              <a:t>&gt;&gt;&gt; RR == None</a:t>
            </a:r>
          </a:p>
          <a:p>
            <a:r>
              <a:rPr lang="en-US" altLang="ko-KR" sz="1000" dirty="0"/>
              <a:t>True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4056596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\n</a:t>
            </a:r>
            <a:r>
              <a:rPr lang="ko-KR" altLang="en-US" dirty="0"/>
              <a:t>은 </a:t>
            </a:r>
            <a:r>
              <a:rPr lang="en-US" altLang="ko-KR" dirty="0"/>
              <a:t>.</a:t>
            </a:r>
            <a:r>
              <a:rPr lang="ko-KR" altLang="en-US" dirty="0"/>
              <a:t>과 매치되지 않기 때문이다</a:t>
            </a:r>
            <a:r>
              <a:rPr lang="en-US" altLang="ko-KR" dirty="0"/>
              <a:t>. </a:t>
            </a:r>
            <a:r>
              <a:rPr lang="ko-KR" altLang="en-US" dirty="0"/>
              <a:t>이것이 </a:t>
            </a:r>
            <a:r>
              <a:rPr lang="ko-KR" altLang="en-US" dirty="0" err="1"/>
              <a:t>가능하려면</a:t>
            </a:r>
            <a:r>
              <a:rPr lang="ko-KR" altLang="en-US" dirty="0"/>
              <a:t> 다음과 같이 </a:t>
            </a:r>
            <a:r>
              <a:rPr lang="en-US" altLang="ko-KR" dirty="0" err="1" smtClean="0"/>
              <a:t>re.S</a:t>
            </a:r>
            <a:r>
              <a:rPr lang="ko-KR" altLang="en-US" dirty="0"/>
              <a:t> 옵션을 사용해야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68216" y="4869160"/>
            <a:ext cx="3456384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SS 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('.</a:t>
            </a:r>
            <a:r>
              <a:rPr lang="en-US" altLang="ko-KR" sz="1000" dirty="0" err="1"/>
              <a:t>ake</a:t>
            </a:r>
            <a:r>
              <a:rPr lang="en-US" altLang="ko-KR" sz="1000" dirty="0"/>
              <a:t>',</a:t>
            </a:r>
            <a:r>
              <a:rPr lang="en-US" altLang="ko-KR" sz="1000" dirty="0" err="1"/>
              <a:t>re.S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&gt;&gt;&gt; RR = </a:t>
            </a:r>
            <a:r>
              <a:rPr lang="en-US" altLang="ko-KR" sz="1000" dirty="0" err="1"/>
              <a:t>SS.match</a:t>
            </a:r>
            <a:r>
              <a:rPr lang="en-US" altLang="ko-KR" sz="1000" dirty="0"/>
              <a:t>('\</a:t>
            </a:r>
            <a:r>
              <a:rPr lang="en-US" altLang="ko-KR" sz="1000" dirty="0" err="1"/>
              <a:t>nake</a:t>
            </a:r>
            <a:r>
              <a:rPr lang="en-US" altLang="ko-KR" sz="1000" dirty="0"/>
              <a:t>')</a:t>
            </a:r>
          </a:p>
          <a:p>
            <a:r>
              <a:rPr lang="en-US" altLang="ko-KR" sz="1000" dirty="0"/>
              <a:t>&gt;&gt;&gt; RR == None</a:t>
            </a:r>
          </a:p>
          <a:p>
            <a:r>
              <a:rPr lang="en-US" altLang="ko-KR" sz="1000" dirty="0"/>
              <a:t>False</a:t>
            </a:r>
          </a:p>
          <a:p>
            <a:r>
              <a:rPr lang="en-US" altLang="ko-KR" sz="1000" dirty="0"/>
              <a:t>&gt;&gt;&gt; </a:t>
            </a:r>
            <a:r>
              <a:rPr lang="en-US" altLang="ko-KR" sz="1000" dirty="0" err="1"/>
              <a:t>RR.group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'\</a:t>
            </a:r>
            <a:r>
              <a:rPr lang="en-US" altLang="ko-KR" sz="1000" dirty="0" err="1"/>
              <a:t>nake</a:t>
            </a:r>
            <a:r>
              <a:rPr lang="en-US" altLang="ko-KR" sz="1000" dirty="0"/>
              <a:t>'</a:t>
            </a:r>
          </a:p>
          <a:p>
            <a:r>
              <a:rPr lang="en-US" altLang="ko-KR" sz="1000" dirty="0"/>
              <a:t>&gt;&gt;&gt;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1671935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28600"/>
            <a:ext cx="8226496" cy="99060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Compile Options-IGNORECASE</a:t>
            </a:r>
            <a:r>
              <a:rPr lang="en-US" altLang="ko-KR" b="1" dirty="0"/>
              <a:t>, I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229600" cy="11521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en-US" altLang="ko-KR" sz="1800" dirty="0" err="1"/>
              <a:t>re.IGNORECASE</a:t>
            </a:r>
            <a:r>
              <a:rPr lang="ko-KR" altLang="en-US" sz="1800" dirty="0"/>
              <a:t> 또는 </a:t>
            </a:r>
            <a:r>
              <a:rPr lang="en-US" altLang="ko-KR" sz="1800" dirty="0" err="1"/>
              <a:t>re.I</a:t>
            </a:r>
            <a:r>
              <a:rPr lang="ko-KR" altLang="en-US" sz="1800" dirty="0"/>
              <a:t> 는 대소문자 </a:t>
            </a:r>
            <a:r>
              <a:rPr lang="ko-KR" altLang="en-US" sz="1800" dirty="0" err="1"/>
              <a:t>구분없이</a:t>
            </a:r>
            <a:r>
              <a:rPr lang="ko-KR" altLang="en-US" sz="1800" dirty="0"/>
              <a:t> 매치를 수행하고자 할 경우에 사용하는 옵션이다</a:t>
            </a:r>
            <a:r>
              <a:rPr lang="en-US" altLang="ko-KR" sz="1800" dirty="0"/>
              <a:t>.</a:t>
            </a:r>
            <a:endParaRPr lang="en-US" altLang="ko-KR" sz="1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944208" y="3429000"/>
            <a:ext cx="3456384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II 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('[a-z</a:t>
            </a:r>
            <a:r>
              <a:rPr lang="en-US" altLang="ko-KR" sz="1000" dirty="0" smtClean="0"/>
              <a:t>]+')</a:t>
            </a:r>
          </a:p>
          <a:p>
            <a:r>
              <a:rPr lang="en-US" altLang="ko-KR" sz="1000" dirty="0"/>
              <a:t>&gt;&gt;&gt; ii = </a:t>
            </a:r>
            <a:r>
              <a:rPr lang="en-US" altLang="ko-KR" sz="1000" dirty="0" err="1"/>
              <a:t>II.match</a:t>
            </a:r>
            <a:r>
              <a:rPr lang="en-US" altLang="ko-KR" sz="1000" dirty="0"/>
              <a:t>('Python')</a:t>
            </a:r>
          </a:p>
          <a:p>
            <a:r>
              <a:rPr lang="en-US" altLang="ko-KR" sz="1000" dirty="0"/>
              <a:t>&gt;&gt;&gt; ii == None</a:t>
            </a:r>
          </a:p>
          <a:p>
            <a:r>
              <a:rPr lang="en-US" altLang="ko-KR" sz="1000" dirty="0"/>
              <a:t>True</a:t>
            </a:r>
          </a:p>
          <a:p>
            <a:r>
              <a:rPr lang="en-US" altLang="ko-KR" sz="1000" dirty="0"/>
              <a:t>&gt;&gt;&gt; 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4056596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[a-z]</a:t>
            </a:r>
            <a:r>
              <a:rPr lang="ko-KR" altLang="en-US" dirty="0"/>
              <a:t> 정규식은 소문자만을 의미하지만 </a:t>
            </a:r>
            <a:r>
              <a:rPr lang="en-US" altLang="ko-KR" dirty="0" err="1"/>
              <a:t>re.I</a:t>
            </a:r>
            <a:r>
              <a:rPr lang="ko-KR" altLang="en-US" dirty="0"/>
              <a:t> 옵션에 의해서 대소문자에 관계없이 매치되게 된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68216" y="4869160"/>
            <a:ext cx="3456384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II 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('[a-z]+',</a:t>
            </a:r>
            <a:r>
              <a:rPr lang="en-US" altLang="ko-KR" sz="1000" dirty="0" err="1"/>
              <a:t>re.I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&gt;&gt;&gt; ii = </a:t>
            </a:r>
            <a:r>
              <a:rPr lang="en-US" altLang="ko-KR" sz="1000" dirty="0" err="1"/>
              <a:t>II.match</a:t>
            </a:r>
            <a:r>
              <a:rPr lang="en-US" altLang="ko-KR" sz="1000" dirty="0"/>
              <a:t>('Python')</a:t>
            </a:r>
          </a:p>
          <a:p>
            <a:r>
              <a:rPr lang="en-US" altLang="ko-KR" sz="1000" dirty="0"/>
              <a:t>&gt;&gt;&gt; ii == None</a:t>
            </a:r>
          </a:p>
          <a:p>
            <a:r>
              <a:rPr lang="en-US" altLang="ko-KR" sz="1000" dirty="0"/>
              <a:t>False</a:t>
            </a:r>
          </a:p>
          <a:p>
            <a:r>
              <a:rPr lang="en-US" altLang="ko-KR" sz="1000" dirty="0"/>
              <a:t>&gt;&gt;&gt; </a:t>
            </a:r>
            <a:r>
              <a:rPr lang="en-US" altLang="ko-KR" sz="1000" dirty="0" err="1"/>
              <a:t>ii.group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'Python'</a:t>
            </a:r>
          </a:p>
          <a:p>
            <a:r>
              <a:rPr lang="en-US" altLang="ko-KR" sz="1000" dirty="0"/>
              <a:t>&gt;&gt;&gt;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39621201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28600"/>
            <a:ext cx="8226496" cy="99060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Compile Options-MULTILINE</a:t>
            </a:r>
            <a:r>
              <a:rPr lang="en-US" altLang="ko-KR" b="1" dirty="0"/>
              <a:t>, </a:t>
            </a:r>
            <a:r>
              <a:rPr lang="en-US" altLang="ko-KR" b="1" dirty="0" smtClean="0"/>
              <a:t>M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229600" cy="115212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en-US" altLang="ko-KR" sz="1800" dirty="0" err="1"/>
              <a:t>re.MULTILINE</a:t>
            </a:r>
            <a:r>
              <a:rPr lang="en-US" altLang="ko-KR" sz="1800" dirty="0"/>
              <a:t> </a:t>
            </a:r>
            <a:r>
              <a:rPr lang="ko-KR" altLang="en-US" sz="1800" dirty="0"/>
              <a:t>또는 </a:t>
            </a:r>
            <a:r>
              <a:rPr lang="en-US" altLang="ko-KR" sz="1800" dirty="0" err="1"/>
              <a:t>re.M</a:t>
            </a:r>
            <a:r>
              <a:rPr lang="en-US" altLang="ko-KR" sz="1800" dirty="0"/>
              <a:t> </a:t>
            </a:r>
            <a:r>
              <a:rPr lang="ko-KR" altLang="en-US" sz="1800" dirty="0"/>
              <a:t>옵션은 </a:t>
            </a:r>
            <a:r>
              <a:rPr lang="ko-KR" altLang="en-US" sz="1800" dirty="0" smtClean="0"/>
              <a:t>메타문자인 </a:t>
            </a:r>
            <a:r>
              <a:rPr lang="en-US" altLang="ko-KR" sz="1800" dirty="0"/>
              <a:t>^, $</a:t>
            </a:r>
            <a:r>
              <a:rPr lang="ko-KR" altLang="en-US" sz="1800" dirty="0"/>
              <a:t>와 연관되어 있는 옵션이다</a:t>
            </a:r>
            <a:r>
              <a:rPr lang="en-US" altLang="ko-KR" sz="1800" dirty="0"/>
              <a:t>. </a:t>
            </a:r>
            <a:endParaRPr lang="en-US" altLang="ko-KR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^</a:t>
            </a:r>
            <a:r>
              <a:rPr lang="ko-KR" altLang="en-US" sz="1800" dirty="0"/>
              <a:t>와 </a:t>
            </a:r>
            <a:r>
              <a:rPr lang="en-US" altLang="ko-KR" sz="1800" dirty="0" smtClean="0"/>
              <a:t>$</a:t>
            </a:r>
            <a:r>
              <a:rPr lang="ko-KR" altLang="en-US" sz="1800" dirty="0" smtClean="0"/>
              <a:t>의 의미는 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sz="1500" dirty="0"/>
              <a:t>^ - </a:t>
            </a:r>
            <a:r>
              <a:rPr lang="ko-KR" altLang="en-US" sz="1500" dirty="0"/>
              <a:t>문자열의 </a:t>
            </a:r>
            <a:r>
              <a:rPr lang="ko-KR" altLang="en-US" sz="1500" dirty="0" smtClean="0"/>
              <a:t>처음</a:t>
            </a:r>
            <a:r>
              <a:rPr lang="en-US" altLang="ko-KR" sz="1500" dirty="0" smtClean="0"/>
              <a:t>, $ </a:t>
            </a:r>
            <a:r>
              <a:rPr lang="en-US" altLang="ko-KR" sz="1500" dirty="0"/>
              <a:t>- </a:t>
            </a:r>
            <a:r>
              <a:rPr lang="ko-KR" altLang="en-US" sz="1500" dirty="0"/>
              <a:t>문자열의 </a:t>
            </a:r>
            <a:r>
              <a:rPr lang="ko-KR" altLang="en-US" sz="1500" dirty="0" smtClean="0"/>
              <a:t>마지막</a:t>
            </a:r>
            <a:endParaRPr lang="en-US" altLang="ko-KR" sz="15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sz="1400" dirty="0"/>
              <a:t>^python</a:t>
            </a:r>
            <a:r>
              <a:rPr lang="ko-KR" altLang="en-US" sz="1400" dirty="0"/>
              <a:t> 인 경우 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처음은 항상 </a:t>
            </a:r>
            <a:r>
              <a:rPr lang="en-US" altLang="ko-KR" sz="1400" dirty="0"/>
              <a:t>"python"</a:t>
            </a:r>
            <a:r>
              <a:rPr lang="ko-KR" altLang="en-US" sz="1400" dirty="0"/>
              <a:t>으로 </a:t>
            </a:r>
            <a:r>
              <a:rPr lang="ko-KR" altLang="en-US" sz="1400" dirty="0" smtClean="0"/>
              <a:t>시작</a:t>
            </a:r>
            <a:r>
              <a:rPr lang="en-US" altLang="ko-KR" sz="1400" dirty="0" smtClean="0"/>
              <a:t>, </a:t>
            </a:r>
            <a:r>
              <a:rPr lang="ko-KR" altLang="en-US" sz="1400" dirty="0"/>
              <a:t> </a:t>
            </a:r>
            <a:r>
              <a:rPr lang="en-US" altLang="ko-KR" sz="1400" dirty="0"/>
              <a:t>python$</a:t>
            </a:r>
            <a:r>
              <a:rPr lang="ko-KR" altLang="en-US" sz="1400" dirty="0"/>
              <a:t>라면 </a:t>
            </a:r>
            <a:r>
              <a:rPr lang="ko-KR" altLang="en-US" sz="1400" dirty="0" smtClean="0"/>
              <a:t>마지막은 </a:t>
            </a:r>
            <a:r>
              <a:rPr lang="ko-KR" altLang="en-US" sz="1400" dirty="0"/>
              <a:t>항상 </a:t>
            </a:r>
            <a:r>
              <a:rPr lang="en-US" altLang="ko-KR" sz="1400" dirty="0"/>
              <a:t>"python"</a:t>
            </a:r>
            <a:r>
              <a:rPr lang="ko-KR" altLang="en-US" sz="1400" dirty="0"/>
              <a:t>으로 끝나야 매치</a:t>
            </a:r>
            <a:endParaRPr lang="en-US" altLang="ko-KR" sz="15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944208" y="3212976"/>
            <a:ext cx="3456384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&gt;&gt;&gt; MM 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('^Hello\s\w+')</a:t>
            </a:r>
          </a:p>
          <a:p>
            <a:r>
              <a:rPr lang="en-US" altLang="ko-KR" sz="1000" dirty="0"/>
              <a:t>&gt;&gt;&gt; data = """Hello World</a:t>
            </a:r>
          </a:p>
          <a:p>
            <a:r>
              <a:rPr lang="en-US" altLang="ko-KR" sz="1000" dirty="0"/>
              <a:t>... Hello Dahl</a:t>
            </a:r>
          </a:p>
          <a:p>
            <a:r>
              <a:rPr lang="en-US" altLang="ko-KR" sz="1000" dirty="0"/>
              <a:t>... Hello Moon"""</a:t>
            </a:r>
          </a:p>
          <a:p>
            <a:r>
              <a:rPr lang="en-US" altLang="ko-KR" sz="1000" dirty="0"/>
              <a:t>&gt;&gt;&gt; mm = </a:t>
            </a:r>
            <a:r>
              <a:rPr lang="en-US" altLang="ko-KR" sz="1000" dirty="0" err="1"/>
              <a:t>MM.match</a:t>
            </a:r>
            <a:r>
              <a:rPr lang="en-US" altLang="ko-KR" sz="1000" dirty="0"/>
              <a:t>(data)</a:t>
            </a:r>
          </a:p>
          <a:p>
            <a:r>
              <a:rPr lang="en-US" altLang="ko-KR" sz="1000" dirty="0"/>
              <a:t>&gt;&gt;&gt; </a:t>
            </a:r>
            <a:r>
              <a:rPr lang="en-US" altLang="ko-KR" sz="1000" dirty="0" err="1"/>
              <a:t>mm.group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'Hello World'</a:t>
            </a:r>
          </a:p>
          <a:p>
            <a:r>
              <a:rPr lang="en-US" altLang="ko-KR" sz="1000" dirty="0" smtClean="0"/>
              <a:t>&gt;&gt;&gt;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4056596"/>
            <a:ext cx="3312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re.MULTILINE</a:t>
            </a:r>
            <a:r>
              <a:rPr lang="ko-KR" altLang="en-US" dirty="0"/>
              <a:t> 옵션으로 인해 </a:t>
            </a:r>
            <a:r>
              <a:rPr lang="en-US" altLang="ko-KR" dirty="0"/>
              <a:t>^</a:t>
            </a:r>
            <a:r>
              <a:rPr lang="ko-KR" altLang="en-US" dirty="0"/>
              <a:t>메타문자가 문자열 전체가 아닌 라인의 처음이라는 의미를 갖게 되어 다음과 같은 결과가 출력될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68216" y="4869160"/>
            <a:ext cx="3456384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smtClean="0"/>
              <a:t>&gt;&gt;&gt; MM </a:t>
            </a:r>
            <a:r>
              <a:rPr lang="en-US" altLang="ko-KR" sz="1000" dirty="0"/>
              <a:t>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('^Hello\s\w+',</a:t>
            </a:r>
            <a:r>
              <a:rPr lang="en-US" altLang="ko-KR" sz="1000" dirty="0" err="1"/>
              <a:t>re.M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 smtClean="0"/>
              <a:t>&gt;&gt;&gt; </a:t>
            </a:r>
            <a:r>
              <a:rPr lang="en-US" altLang="ko-KR" sz="1000" dirty="0" err="1" smtClean="0"/>
              <a:t>MM.findall</a:t>
            </a:r>
            <a:r>
              <a:rPr lang="en-US" altLang="ko-KR" sz="1000" dirty="0" smtClean="0"/>
              <a:t>(data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['Hello World', 'Hello Dahl', 'Hello Moon']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1255233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28600"/>
            <a:ext cx="8226496" cy="99060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Compile Options-</a:t>
            </a:r>
            <a:r>
              <a:rPr lang="en-US" altLang="ko-KR" b="1" dirty="0"/>
              <a:t>VERBOSE, </a:t>
            </a:r>
            <a:r>
              <a:rPr lang="en-US" altLang="ko-KR" b="1" dirty="0" smtClean="0"/>
              <a:t>X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229600" cy="11521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 </a:t>
            </a:r>
            <a:r>
              <a:rPr lang="ko-KR" altLang="en-US" sz="1600" dirty="0"/>
              <a:t>이해하기 어려운 정규식에 주석 또는 라인단위로 </a:t>
            </a:r>
            <a:r>
              <a:rPr lang="ko-KR" altLang="en-US" sz="1600" dirty="0" smtClean="0"/>
              <a:t>구분을 하여 표시할 수 있도록 처리</a:t>
            </a:r>
            <a:endParaRPr lang="en-US" altLang="ko-KR" sz="15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944208" y="3212976"/>
            <a:ext cx="3456384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1000" smtClean="0"/>
              <a:t>&gt;&gt;&gt; charref </a:t>
            </a:r>
            <a:r>
              <a:rPr lang="it-IT" altLang="ko-KR" sz="1000"/>
              <a:t>= re.compile(r'&amp;[#](0[0-7]+|[0-9]+|x[0-9a-fA-F]+);')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3429000"/>
            <a:ext cx="33123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첫번째와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두번째의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컴파일된</a:t>
            </a:r>
            <a:r>
              <a:rPr lang="ko-KR" altLang="en-US" sz="1200" dirty="0"/>
              <a:t> 패턴 객체는 모두 동일한 역할을 한다</a:t>
            </a:r>
            <a:r>
              <a:rPr lang="en-US" altLang="ko-KR" sz="1200" dirty="0"/>
              <a:t>.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하지만 </a:t>
            </a:r>
            <a:r>
              <a:rPr lang="ko-KR" altLang="en-US" sz="1200" dirty="0"/>
              <a:t>정규식이 복잡할 </a:t>
            </a:r>
            <a:r>
              <a:rPr lang="ko-KR" altLang="en-US" sz="1200" dirty="0" smtClean="0"/>
              <a:t>경우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ko-KR" altLang="en-US" sz="1200" dirty="0" err="1"/>
              <a:t>두번째</a:t>
            </a:r>
            <a:r>
              <a:rPr lang="ko-KR" altLang="en-US" sz="1200" dirty="0"/>
              <a:t> 처럼 주석을 적고 </a:t>
            </a:r>
            <a:r>
              <a:rPr lang="ko-KR" altLang="en-US" sz="1200" dirty="0" err="1"/>
              <a:t>여러줄로</a:t>
            </a:r>
            <a:r>
              <a:rPr lang="ko-KR" altLang="en-US" sz="1200" dirty="0"/>
              <a:t> 표현하는 것이 훨씬 </a:t>
            </a:r>
            <a:r>
              <a:rPr lang="ko-KR" altLang="en-US" sz="1200" dirty="0" err="1"/>
              <a:t>가독성이</a:t>
            </a:r>
            <a:r>
              <a:rPr lang="ko-KR" altLang="en-US" sz="1200" dirty="0"/>
              <a:t> 좋다는 것을 알 수 있을 것이다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re.VERBOSE</a:t>
            </a:r>
            <a:r>
              <a:rPr lang="en-US" altLang="ko-KR" sz="1200" dirty="0"/>
              <a:t> </a:t>
            </a:r>
            <a:r>
              <a:rPr lang="ko-KR" altLang="en-US" sz="1200" dirty="0"/>
              <a:t>옵션을 사용하면 문자열에 사용된 </a:t>
            </a:r>
            <a:r>
              <a:rPr lang="en-US" altLang="ko-KR" sz="1200" dirty="0"/>
              <a:t>whitespace </a:t>
            </a:r>
            <a:r>
              <a:rPr lang="ko-KR" altLang="en-US" sz="1200" dirty="0"/>
              <a:t>는 컴파일 시 제거된다</a:t>
            </a:r>
            <a:r>
              <a:rPr lang="en-US" altLang="ko-KR" sz="1200" dirty="0"/>
              <a:t>. (</a:t>
            </a:r>
            <a:r>
              <a:rPr lang="ko-KR" altLang="en-US" sz="1200" dirty="0"/>
              <a:t>단 </a:t>
            </a:r>
            <a:r>
              <a:rPr lang="en-US" altLang="ko-KR" sz="1200" dirty="0"/>
              <a:t>[] </a:t>
            </a:r>
            <a:r>
              <a:rPr lang="ko-KR" altLang="en-US" sz="1200" dirty="0"/>
              <a:t>내에 사용된 </a:t>
            </a:r>
            <a:r>
              <a:rPr lang="en-US" altLang="ko-KR" sz="1200" dirty="0"/>
              <a:t>whitespace</a:t>
            </a:r>
            <a:r>
              <a:rPr lang="ko-KR" altLang="en-US" sz="1200" dirty="0"/>
              <a:t>는 제외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/>
          </a:p>
          <a:p>
            <a:r>
              <a:rPr lang="ko-KR" altLang="en-US" sz="1200" dirty="0"/>
              <a:t>그리고 라인단위로 </a:t>
            </a:r>
            <a:r>
              <a:rPr lang="en-US" altLang="ko-KR" sz="1200" dirty="0"/>
              <a:t># </a:t>
            </a:r>
            <a:r>
              <a:rPr lang="ko-KR" altLang="en-US" sz="1200" dirty="0"/>
              <a:t>을 이용하여 </a:t>
            </a:r>
            <a:r>
              <a:rPr lang="ko-KR" altLang="en-US" sz="1200" dirty="0" err="1"/>
              <a:t>주석문을</a:t>
            </a:r>
            <a:r>
              <a:rPr lang="ko-KR" altLang="en-US" sz="1200" dirty="0"/>
              <a:t> 작성하는 것이 가능하게 된다</a:t>
            </a:r>
            <a:r>
              <a:rPr lang="en-US" altLang="ko-KR" sz="1200" dirty="0"/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68216" y="4869160"/>
            <a:ext cx="3456384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smtClean="0"/>
              <a:t>&gt;&gt;&gt; </a:t>
            </a:r>
            <a:r>
              <a:rPr lang="en-US" altLang="ko-KR" sz="1000" dirty="0" err="1" smtClean="0"/>
              <a:t>charref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= </a:t>
            </a:r>
            <a:r>
              <a:rPr lang="en-US" altLang="ko-KR" sz="1000" dirty="0" err="1"/>
              <a:t>re.compile</a:t>
            </a:r>
            <a:r>
              <a:rPr lang="en-US" altLang="ko-KR" sz="1000" dirty="0"/>
              <a:t>(r""" &amp;[#] # Start of a numeric entity reference ( 0[0-7]+ # Octal form | [0-9]+ # Decimal form | x[0-9a-fA-F]+ # Hexadecimal form ) ; # Trailing semicolon """, </a:t>
            </a:r>
            <a:r>
              <a:rPr lang="en-US" altLang="ko-KR" sz="1000" dirty="0" err="1"/>
              <a:t>re.VERBOSE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3403296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/>
              <a:t>정규표현식</a:t>
            </a:r>
            <a:r>
              <a:rPr lang="ko-KR" altLang="en-US" b="1" dirty="0"/>
              <a:t> </a:t>
            </a:r>
            <a:r>
              <a:rPr lang="en-US" altLang="ko-KR" b="1" dirty="0" smtClean="0"/>
              <a:t>–Compile </a:t>
            </a:r>
            <a:r>
              <a:rPr lang="ko-KR" altLang="en-US" b="1" dirty="0" smtClean="0"/>
              <a:t>후 검색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25273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match, search</a:t>
            </a:r>
            <a:r>
              <a:rPr lang="ko-KR" altLang="en-US" sz="1800" dirty="0"/>
              <a:t>는 정규식과 매치될 때에는 </a:t>
            </a:r>
            <a:r>
              <a:rPr lang="en-US" altLang="ko-KR" sz="1800" dirty="0"/>
              <a:t>match object</a:t>
            </a:r>
            <a:r>
              <a:rPr lang="ko-KR" altLang="en-US" sz="1800" dirty="0"/>
              <a:t>를 </a:t>
            </a:r>
            <a:r>
              <a:rPr lang="ko-KR" altLang="en-US" sz="1800" dirty="0" err="1"/>
              <a:t>리턴하고</a:t>
            </a:r>
            <a:r>
              <a:rPr lang="ko-KR" altLang="en-US" sz="1800" dirty="0"/>
              <a:t> 매치되지 않을 경우에는 </a:t>
            </a:r>
            <a:r>
              <a:rPr lang="en-US" altLang="ko-KR" sz="1800" dirty="0"/>
              <a:t>None</a:t>
            </a:r>
            <a:r>
              <a:rPr lang="ko-KR" altLang="en-US" sz="1800" dirty="0"/>
              <a:t>을 </a:t>
            </a:r>
            <a:r>
              <a:rPr lang="ko-KR" altLang="en-US" sz="1800" dirty="0" smtClean="0"/>
              <a:t>리턴</a:t>
            </a:r>
            <a:endParaRPr lang="en-US" altLang="ko-KR" sz="1800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match - </a:t>
            </a:r>
            <a:r>
              <a:rPr lang="ko-KR" altLang="en-US" sz="1800" dirty="0"/>
              <a:t>문자열의 처음부터 검색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search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문자열 내에서 일치하는 것이 </a:t>
            </a:r>
            <a:r>
              <a:rPr lang="ko-KR" altLang="en-US" sz="1800" dirty="0"/>
              <a:t>있는지 검색</a:t>
            </a:r>
            <a:endParaRPr lang="en-US" altLang="ko-KR" sz="1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97260730"/>
              </p:ext>
            </p:extLst>
          </p:nvPr>
        </p:nvGraphicFramePr>
        <p:xfrm>
          <a:off x="539552" y="3212976"/>
          <a:ext cx="8153400" cy="2112950"/>
        </p:xfrm>
        <a:graphic>
          <a:graphicData uri="http://schemas.openxmlformats.org/drawingml/2006/table">
            <a:tbl>
              <a:tblPr/>
              <a:tblGrid>
                <a:gridCol w="2664296"/>
                <a:gridCol w="5489104"/>
              </a:tblGrid>
              <a:tr h="17877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effectLst/>
                        </a:rPr>
                        <a:t>function</a:t>
                      </a:r>
                      <a:endParaRPr lang="en-US" sz="1200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877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match()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문자열의 처음부터 정규식과 매치되는지 조사한다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search()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문자열 전체를 검색하여 정규식과 매치되는지 조사한다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findall()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정규식과 매치되는 </a:t>
                      </a:r>
                      <a:r>
                        <a:rPr lang="ko-KR" altLang="en-US" sz="1200" dirty="0" smtClean="0">
                          <a:effectLst/>
                        </a:rPr>
                        <a:t>모든 라인의 </a:t>
                      </a:r>
                      <a:r>
                        <a:rPr lang="ko-KR" altLang="en-US" sz="1200" dirty="0">
                          <a:effectLst/>
                        </a:rPr>
                        <a:t>문자열</a:t>
                      </a:r>
                      <a:r>
                        <a:rPr lang="en-US" altLang="ko-KR" sz="1200" dirty="0">
                          <a:effectLst/>
                        </a:rPr>
                        <a:t>(substring)</a:t>
                      </a:r>
                      <a:r>
                        <a:rPr lang="ko-KR" altLang="en-US" sz="1200" dirty="0">
                          <a:effectLst/>
                        </a:rPr>
                        <a:t>을 리스트로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862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</a:rPr>
                        <a:t>finditer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정규식과 매치되는 모든 </a:t>
                      </a:r>
                      <a:r>
                        <a:rPr lang="ko-KR" altLang="en-US" sz="1200" dirty="0" smtClean="0">
                          <a:effectLst/>
                        </a:rPr>
                        <a:t>라인의 문자열</a:t>
                      </a:r>
                      <a:r>
                        <a:rPr lang="en-US" altLang="ko-KR" sz="1200" dirty="0">
                          <a:effectLst/>
                        </a:rPr>
                        <a:t>(substring)</a:t>
                      </a:r>
                      <a:r>
                        <a:rPr lang="ko-KR" altLang="en-US" sz="1200" dirty="0">
                          <a:effectLst/>
                        </a:rPr>
                        <a:t>을 </a:t>
                      </a:r>
                      <a:r>
                        <a:rPr lang="en-US" altLang="ko-KR" sz="1200" dirty="0">
                          <a:effectLst/>
                        </a:rPr>
                        <a:t>iterator </a:t>
                      </a:r>
                      <a:r>
                        <a:rPr lang="ko-KR" altLang="en-US" sz="1200" dirty="0">
                          <a:effectLst/>
                        </a:rPr>
                        <a:t>객체로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862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effectLst/>
                        </a:rPr>
                        <a:t>sub()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smtClean="0">
                          <a:effectLst/>
                        </a:rPr>
                        <a:t>정규식과 매치되면 변경시킴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862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effectLst/>
                        </a:rPr>
                        <a:t>split()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smtClean="0">
                          <a:effectLst/>
                        </a:rPr>
                        <a:t>매칭되면 </a:t>
                      </a:r>
                      <a:r>
                        <a:rPr lang="ko-KR" altLang="en-US" sz="1200" dirty="0" err="1" smtClean="0">
                          <a:effectLst/>
                        </a:rPr>
                        <a:t>패턴별로</a:t>
                      </a:r>
                      <a:r>
                        <a:rPr lang="ko-KR" altLang="en-US" sz="1200" dirty="0" smtClean="0">
                          <a:effectLst/>
                        </a:rPr>
                        <a:t> 쪼개서 리턴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55584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Search/match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7066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match </a:t>
            </a:r>
            <a:r>
              <a:rPr lang="ko-KR" altLang="en-US" b="1" dirty="0" smtClean="0"/>
              <a:t>함수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문자열에 패턴을 찾아 검색이 필요한 경우 처리</a:t>
            </a:r>
            <a:r>
              <a:rPr lang="en-US" altLang="ko-KR" sz="1800" dirty="0" smtClean="0"/>
              <a:t>match</a:t>
            </a:r>
            <a:r>
              <a:rPr lang="en-US" altLang="ko-KR" sz="1800" dirty="0"/>
              <a:t>, search</a:t>
            </a:r>
            <a:r>
              <a:rPr lang="ko-KR" altLang="en-US" sz="1800" dirty="0"/>
              <a:t>는 정규식과 매치될 때에는 </a:t>
            </a:r>
            <a:r>
              <a:rPr lang="en-US" altLang="ko-KR" sz="1800" dirty="0"/>
              <a:t>match object</a:t>
            </a:r>
            <a:r>
              <a:rPr lang="ko-KR" altLang="en-US" sz="1800" dirty="0"/>
              <a:t>를 </a:t>
            </a:r>
            <a:r>
              <a:rPr lang="ko-KR" altLang="en-US" sz="1800" dirty="0" err="1"/>
              <a:t>리턴하고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매치되지 </a:t>
            </a:r>
            <a:r>
              <a:rPr lang="ko-KR" altLang="en-US" sz="1800" dirty="0"/>
              <a:t>않을 경우에는 </a:t>
            </a:r>
            <a:r>
              <a:rPr lang="en-US" altLang="ko-KR" sz="1800" dirty="0"/>
              <a:t>None</a:t>
            </a:r>
            <a:r>
              <a:rPr lang="ko-KR" altLang="en-US" sz="1800" dirty="0"/>
              <a:t>을 </a:t>
            </a:r>
            <a:r>
              <a:rPr lang="ko-KR" altLang="en-US" sz="1800" dirty="0" smtClean="0"/>
              <a:t>리턴</a:t>
            </a:r>
            <a:endParaRPr lang="en-US" altLang="ko-KR" sz="1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9804509"/>
              </p:ext>
            </p:extLst>
          </p:nvPr>
        </p:nvGraphicFramePr>
        <p:xfrm>
          <a:off x="539552" y="2161455"/>
          <a:ext cx="8153400" cy="914400"/>
        </p:xfrm>
        <a:graphic>
          <a:graphicData uri="http://schemas.openxmlformats.org/drawingml/2006/table">
            <a:tbl>
              <a:tblPr/>
              <a:tblGrid>
                <a:gridCol w="2664296"/>
                <a:gridCol w="5489104"/>
              </a:tblGrid>
              <a:tr h="16078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 smtClean="0">
                          <a:effectLst/>
                        </a:rPr>
                        <a:t>함수</a:t>
                      </a:r>
                      <a:endParaRPr lang="en-US" sz="1400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match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ko-KR" altLang="en-US" sz="1400" dirty="0" smtClean="0">
                          <a:effectLst/>
                        </a:rPr>
                        <a:t>패턴</a:t>
                      </a:r>
                      <a:r>
                        <a:rPr lang="en-US" altLang="ko-KR" sz="1400" dirty="0" smtClean="0">
                          <a:effectLst/>
                        </a:rPr>
                        <a:t>,</a:t>
                      </a:r>
                      <a:r>
                        <a:rPr lang="ko-KR" altLang="en-US" sz="1400" dirty="0" smtClean="0">
                          <a:effectLst/>
                        </a:rPr>
                        <a:t>문자열</a:t>
                      </a:r>
                      <a:r>
                        <a:rPr lang="en-US" altLang="ko-KR" sz="1400" dirty="0" smtClean="0">
                          <a:effectLst/>
                        </a:rPr>
                        <a:t>,</a:t>
                      </a:r>
                      <a:r>
                        <a:rPr lang="ko-KR" altLang="en-US" sz="1400" dirty="0" smtClean="0">
                          <a:effectLst/>
                        </a:rPr>
                        <a:t>플래그</a:t>
                      </a:r>
                      <a:r>
                        <a:rPr lang="en-US" sz="1400" dirty="0" smtClean="0">
                          <a:effectLst/>
                        </a:rPr>
                        <a:t>)</a:t>
                      </a:r>
                      <a:endParaRPr lang="en-US" sz="14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문자열의 처음부터 정규식과 매치되는지 조사한다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search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ko-KR" altLang="en-US" sz="1400" dirty="0" smtClean="0">
                          <a:effectLst/>
                        </a:rPr>
                        <a:t>패턴</a:t>
                      </a:r>
                      <a:r>
                        <a:rPr lang="en-US" altLang="ko-KR" sz="1400" dirty="0" smtClean="0">
                          <a:effectLst/>
                        </a:rPr>
                        <a:t>,</a:t>
                      </a:r>
                      <a:r>
                        <a:rPr lang="ko-KR" altLang="en-US" sz="1400" dirty="0" smtClean="0">
                          <a:effectLst/>
                        </a:rPr>
                        <a:t>문자열</a:t>
                      </a:r>
                      <a:r>
                        <a:rPr lang="en-US" altLang="ko-KR" sz="1400" dirty="0" smtClean="0">
                          <a:effectLst/>
                        </a:rPr>
                        <a:t>,</a:t>
                      </a:r>
                      <a:r>
                        <a:rPr lang="ko-KR" altLang="en-US" sz="1400" dirty="0" smtClean="0">
                          <a:effectLst/>
                        </a:rPr>
                        <a:t>플래그</a:t>
                      </a:r>
                      <a:r>
                        <a:rPr lang="en-US" sz="1400" dirty="0" smtClean="0">
                          <a:effectLst/>
                        </a:rPr>
                        <a:t>)</a:t>
                      </a:r>
                      <a:endParaRPr lang="en-US" sz="14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문자열 전체를 검색하여 정규식과 매치되는지 조사한다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55576" y="3633229"/>
            <a:ext cx="3600400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r>
              <a:rPr lang="en-US" altLang="ko-KR" sz="1000" dirty="0"/>
              <a:t>line = "Cats are smarter than dogs</a:t>
            </a:r>
            <a:r>
              <a:rPr lang="en-US" altLang="ko-KR" sz="1000" dirty="0" smtClean="0"/>
              <a:t>"</a:t>
            </a:r>
            <a:endParaRPr lang="en-US" altLang="ko-KR" sz="1000" dirty="0"/>
          </a:p>
          <a:p>
            <a:r>
              <a:rPr lang="en-US" altLang="ko-KR" sz="1000" dirty="0" err="1"/>
              <a:t>matchObj</a:t>
            </a:r>
            <a:r>
              <a:rPr lang="en-US" altLang="ko-KR" sz="1000" dirty="0"/>
              <a:t> = 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 r'(.*) are (.*?) (.*)', line, </a:t>
            </a:r>
            <a:r>
              <a:rPr lang="en-US" altLang="ko-KR" sz="1000" dirty="0" err="1"/>
              <a:t>re.M|re.I</a:t>
            </a:r>
            <a:r>
              <a:rPr lang="en-US" altLang="ko-KR" sz="1000" dirty="0"/>
              <a:t>)</a:t>
            </a:r>
          </a:p>
          <a:p>
            <a:endParaRPr lang="en-US" altLang="ko-KR" dirty="0"/>
          </a:p>
          <a:p>
            <a:r>
              <a:rPr lang="en-US" altLang="ko-KR" sz="1000" dirty="0"/>
              <a:t>if </a:t>
            </a:r>
            <a:r>
              <a:rPr lang="en-US" altLang="ko-KR" sz="1000" dirty="0" err="1"/>
              <a:t>matchObj</a:t>
            </a:r>
            <a:r>
              <a:rPr lang="en-US" altLang="ko-KR" sz="1000" dirty="0"/>
              <a:t>:</a:t>
            </a:r>
          </a:p>
          <a:p>
            <a:r>
              <a:rPr lang="en-US" altLang="ko-KR" sz="1000" dirty="0"/>
              <a:t>print "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() : ", 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print "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(1) : ", 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(1)</a:t>
            </a:r>
          </a:p>
          <a:p>
            <a:r>
              <a:rPr lang="en-US" altLang="ko-KR" sz="1000" dirty="0"/>
              <a:t>print "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(2) : ", 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(2)</a:t>
            </a:r>
          </a:p>
          <a:p>
            <a:r>
              <a:rPr lang="en-US" altLang="ko-KR" sz="1000" dirty="0"/>
              <a:t>print "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(3) : ", </a:t>
            </a:r>
            <a:r>
              <a:rPr lang="en-US" altLang="ko-KR" sz="1000" dirty="0" err="1"/>
              <a:t>matchObj.group</a:t>
            </a:r>
            <a:r>
              <a:rPr lang="en-US" altLang="ko-KR" sz="1000" dirty="0"/>
              <a:t>(3)</a:t>
            </a:r>
          </a:p>
          <a:p>
            <a:r>
              <a:rPr lang="en-US" altLang="ko-KR" sz="1000" dirty="0"/>
              <a:t>else:</a:t>
            </a:r>
          </a:p>
          <a:p>
            <a:r>
              <a:rPr lang="en-US" altLang="ko-KR" sz="1000" dirty="0"/>
              <a:t>print "No match!!"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040" y="3529607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(.*) </a:t>
            </a:r>
            <a:r>
              <a:rPr lang="ko-KR" altLang="en-US" dirty="0" smtClean="0"/>
              <a:t>패턴은 문자숫자가 연속</a:t>
            </a:r>
            <a:endParaRPr lang="en-US" altLang="ko-KR" dirty="0" smtClean="0"/>
          </a:p>
          <a:p>
            <a:r>
              <a:rPr lang="en-US" altLang="ko-KR" dirty="0" smtClean="0"/>
              <a:t>(.*?) </a:t>
            </a:r>
            <a:r>
              <a:rPr lang="ko-KR" altLang="en-US" dirty="0" smtClean="0"/>
              <a:t>패턴은 문자숫자가 연속된 것이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32040" y="4605337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Group(</a:t>
            </a:r>
            <a:r>
              <a:rPr lang="ko-KR" altLang="en-US" dirty="0" smtClean="0"/>
              <a:t>숫자</a:t>
            </a:r>
            <a:r>
              <a:rPr lang="en-US" altLang="ko-KR" dirty="0" smtClean="0"/>
              <a:t>)</a:t>
            </a:r>
            <a:r>
              <a:rPr lang="ko-KR" altLang="en-US" dirty="0" smtClean="0"/>
              <a:t>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각 </a:t>
            </a:r>
            <a:r>
              <a:rPr lang="ko-KR" altLang="en-US" dirty="0" err="1" smtClean="0"/>
              <a:t>패턴매칭된</a:t>
            </a:r>
            <a:r>
              <a:rPr lang="ko-KR" altLang="en-US" dirty="0" smtClean="0"/>
              <a:t>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418596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match </a:t>
            </a:r>
            <a:r>
              <a:rPr lang="en-US" altLang="ko-KR" b="1" dirty="0" smtClean="0"/>
              <a:t>– match object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229600" cy="67667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+mn-ea"/>
              </a:rPr>
              <a:t>Match</a:t>
            </a:r>
            <a:r>
              <a:rPr lang="ko-KR" altLang="en-US" sz="1800" dirty="0" smtClean="0">
                <a:latin typeface="+mn-ea"/>
              </a:rPr>
              <a:t>는 </a:t>
            </a:r>
            <a:r>
              <a:rPr lang="ko-KR" altLang="en-US" sz="1800" dirty="0" err="1" smtClean="0">
                <a:latin typeface="+mn-ea"/>
              </a:rPr>
              <a:t>첫번째</a:t>
            </a:r>
            <a:r>
              <a:rPr lang="ko-KR" altLang="en-US" sz="1800" dirty="0" smtClean="0">
                <a:latin typeface="+mn-ea"/>
              </a:rPr>
              <a:t> 자리부터 동일한 패턴이 발생할 때만 </a:t>
            </a:r>
            <a:r>
              <a:rPr lang="en-US" altLang="ko-KR" sz="1800" dirty="0" smtClean="0">
                <a:latin typeface="+mn-ea"/>
              </a:rPr>
              <a:t>Object</a:t>
            </a:r>
            <a:r>
              <a:rPr lang="ko-KR" altLang="en-US" sz="1800" dirty="0" smtClean="0">
                <a:latin typeface="+mn-ea"/>
              </a:rPr>
              <a:t>가 만들어 짐</a:t>
            </a:r>
            <a:r>
              <a:rPr lang="en-US" altLang="ko-KR" sz="1800" dirty="0" smtClean="0">
                <a:latin typeface="+mn-ea"/>
              </a:rPr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+mn-ea"/>
              </a:rPr>
              <a:t>Match() </a:t>
            </a:r>
            <a:r>
              <a:rPr lang="ko-KR" altLang="en-US" sz="1800" dirty="0" err="1" smtClean="0">
                <a:latin typeface="+mn-ea"/>
              </a:rPr>
              <a:t>메소드에서</a:t>
            </a:r>
            <a:r>
              <a:rPr lang="ko-KR" altLang="en-US" sz="1800" dirty="0" smtClean="0">
                <a:latin typeface="+mn-ea"/>
              </a:rPr>
              <a:t> </a:t>
            </a:r>
            <a:r>
              <a:rPr lang="ko-KR" altLang="en-US" sz="1800" dirty="0" err="1" smtClean="0">
                <a:latin typeface="+mn-ea"/>
              </a:rPr>
              <a:t>리턴하는</a:t>
            </a:r>
            <a:r>
              <a:rPr lang="ko-KR" altLang="en-US" sz="1800" dirty="0" smtClean="0">
                <a:latin typeface="+mn-ea"/>
              </a:rPr>
              <a:t> 객체를 이용해서 </a:t>
            </a:r>
            <a:r>
              <a:rPr lang="ko-KR" altLang="en-US" sz="1800" dirty="0" err="1" smtClean="0">
                <a:latin typeface="+mn-ea"/>
              </a:rPr>
              <a:t>메소드를</a:t>
            </a:r>
            <a:r>
              <a:rPr lang="ko-KR" altLang="en-US" sz="1800" dirty="0" smtClean="0">
                <a:latin typeface="+mn-ea"/>
              </a:rPr>
              <a:t> 가지고</a:t>
            </a:r>
            <a:r>
              <a:rPr lang="en-US" altLang="ko-KR" sz="1800" dirty="0" smtClean="0">
                <a:latin typeface="+mn-ea"/>
              </a:rPr>
              <a:t> </a:t>
            </a:r>
            <a:r>
              <a:rPr lang="ko-KR" altLang="en-US" sz="1800" dirty="0" smtClean="0">
                <a:latin typeface="+mn-ea"/>
              </a:rPr>
              <a:t>확인</a:t>
            </a:r>
            <a:endParaRPr lang="en-US" altLang="ko-KR" sz="18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40843248"/>
              </p:ext>
            </p:extLst>
          </p:nvPr>
        </p:nvGraphicFramePr>
        <p:xfrm>
          <a:off x="4860032" y="2665512"/>
          <a:ext cx="3672408" cy="2519956"/>
        </p:xfrm>
        <a:graphic>
          <a:graphicData uri="http://schemas.openxmlformats.org/drawingml/2006/table">
            <a:tbl>
              <a:tblPr/>
              <a:tblGrid>
                <a:gridCol w="1200037"/>
                <a:gridCol w="2472371"/>
              </a:tblGrid>
              <a:tr h="38551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Method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5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group()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문자열을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start()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시작 위치를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end()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끝 위치를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0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span()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끝</a:t>
                      </a:r>
                      <a:r>
                        <a:rPr lang="en-US" altLang="ko-KR" sz="1200" dirty="0">
                          <a:effectLst/>
                        </a:rPr>
                        <a:t>) </a:t>
                      </a:r>
                      <a:r>
                        <a:rPr lang="ko-KR" altLang="en-US" sz="1200" dirty="0">
                          <a:effectLst/>
                        </a:rPr>
                        <a:t>에 해당되는 </a:t>
                      </a:r>
                      <a:r>
                        <a:rPr lang="ko-KR" altLang="en-US" sz="1200" dirty="0" err="1">
                          <a:effectLst/>
                        </a:rPr>
                        <a:t>튜플을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611560" y="2233463"/>
            <a:ext cx="3888432" cy="3744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latin typeface="+mn-ea"/>
              </a:rPr>
              <a:t>&gt;&gt;&gt; mat = </a:t>
            </a:r>
            <a:r>
              <a:rPr lang="en-US" altLang="ko-KR" sz="1000" dirty="0" err="1">
                <a:latin typeface="+mn-ea"/>
              </a:rPr>
              <a:t>re.compile</a:t>
            </a:r>
            <a:r>
              <a:rPr lang="en-US" altLang="ko-KR" sz="1000" dirty="0">
                <a:latin typeface="+mn-ea"/>
              </a:rPr>
              <a:t>("[a-z</a:t>
            </a:r>
            <a:r>
              <a:rPr lang="en-US" altLang="ko-KR" sz="1000" dirty="0" smtClean="0">
                <a:latin typeface="+mn-ea"/>
              </a:rPr>
              <a:t>]+")</a:t>
            </a:r>
          </a:p>
          <a:p>
            <a:r>
              <a:rPr lang="en-US" altLang="ko-KR" sz="1000" dirty="0">
                <a:latin typeface="+mn-ea"/>
              </a:rPr>
              <a:t>&gt;&gt;&gt; mat</a:t>
            </a:r>
          </a:p>
          <a:p>
            <a:r>
              <a:rPr lang="en-US" altLang="ko-KR" sz="1000" dirty="0">
                <a:latin typeface="+mn-ea"/>
              </a:rPr>
              <a:t>&lt;_</a:t>
            </a:r>
            <a:r>
              <a:rPr lang="en-US" altLang="ko-KR" sz="1000" dirty="0" err="1">
                <a:latin typeface="+mn-ea"/>
              </a:rPr>
              <a:t>sre.SRE_Pattern</a:t>
            </a:r>
            <a:r>
              <a:rPr lang="en-US" altLang="ko-KR" sz="1000" dirty="0">
                <a:latin typeface="+mn-ea"/>
              </a:rPr>
              <a:t> object at 0x063D2C60&gt;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</a:t>
            </a:r>
            <a:r>
              <a:rPr lang="en-US" altLang="ko-KR" sz="1000" dirty="0">
                <a:latin typeface="+mn-ea"/>
              </a:rPr>
              <a:t> = </a:t>
            </a:r>
            <a:r>
              <a:rPr lang="en-US" altLang="ko-KR" sz="1000" dirty="0" err="1">
                <a:latin typeface="+mn-ea"/>
              </a:rPr>
              <a:t>mat.match</a:t>
            </a:r>
            <a:r>
              <a:rPr lang="en-US" altLang="ko-KR" sz="1000" dirty="0">
                <a:latin typeface="+mn-ea"/>
              </a:rPr>
              <a:t>('</a:t>
            </a:r>
            <a:r>
              <a:rPr lang="en-US" altLang="ko-KR" sz="1000" dirty="0" err="1">
                <a:latin typeface="+mn-ea"/>
              </a:rPr>
              <a:t>abc</a:t>
            </a:r>
            <a:r>
              <a:rPr lang="en-US" altLang="ko-KR" sz="1000" dirty="0" smtClean="0">
                <a:latin typeface="+mn-ea"/>
              </a:rPr>
              <a:t>')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&lt;_</a:t>
            </a:r>
            <a:r>
              <a:rPr lang="en-US" altLang="ko-KR" sz="1000" dirty="0" err="1">
                <a:latin typeface="+mn-ea"/>
              </a:rPr>
              <a:t>sre.SRE_Match</a:t>
            </a:r>
            <a:r>
              <a:rPr lang="en-US" altLang="ko-KR" sz="1000" dirty="0">
                <a:latin typeface="+mn-ea"/>
              </a:rPr>
              <a:t> object at 0x065567C8&gt;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mo.group</a:t>
            </a:r>
            <a:r>
              <a:rPr lang="en-US" altLang="ko-KR" sz="1000" dirty="0">
                <a:latin typeface="+mn-ea"/>
              </a:rPr>
              <a:t>()</a:t>
            </a:r>
          </a:p>
          <a:p>
            <a:r>
              <a:rPr lang="en-US" altLang="ko-KR" sz="1000" dirty="0">
                <a:latin typeface="+mn-ea"/>
              </a:rPr>
              <a:t>'</a:t>
            </a:r>
            <a:r>
              <a:rPr lang="en-US" altLang="ko-KR" sz="1000" dirty="0" err="1">
                <a:latin typeface="+mn-ea"/>
              </a:rPr>
              <a:t>abc</a:t>
            </a:r>
            <a:r>
              <a:rPr lang="en-US" altLang="ko-KR" sz="1000" dirty="0">
                <a:latin typeface="+mn-ea"/>
              </a:rPr>
              <a:t>'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mo.start</a:t>
            </a:r>
            <a:r>
              <a:rPr lang="en-US" altLang="ko-KR" sz="1000" dirty="0">
                <a:latin typeface="+mn-ea"/>
              </a:rPr>
              <a:t>()</a:t>
            </a:r>
          </a:p>
          <a:p>
            <a:r>
              <a:rPr lang="en-US" altLang="ko-KR" sz="1000" dirty="0">
                <a:latin typeface="+mn-ea"/>
              </a:rPr>
              <a:t>0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mo.end</a:t>
            </a:r>
            <a:r>
              <a:rPr lang="en-US" altLang="ko-KR" sz="1000" dirty="0">
                <a:latin typeface="+mn-ea"/>
              </a:rPr>
              <a:t>()</a:t>
            </a:r>
          </a:p>
          <a:p>
            <a:r>
              <a:rPr lang="en-US" altLang="ko-KR" sz="1000" dirty="0">
                <a:latin typeface="+mn-ea"/>
              </a:rPr>
              <a:t>3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err="1">
                <a:latin typeface="+mn-ea"/>
              </a:rPr>
              <a:t>mo.span</a:t>
            </a:r>
            <a:r>
              <a:rPr lang="en-US" altLang="ko-KR" sz="1000" dirty="0">
                <a:latin typeface="+mn-ea"/>
              </a:rPr>
              <a:t>()</a:t>
            </a:r>
          </a:p>
          <a:p>
            <a:r>
              <a:rPr lang="en-US" altLang="ko-KR" sz="1000" dirty="0">
                <a:latin typeface="+mn-ea"/>
              </a:rPr>
              <a:t>(0, 3)</a:t>
            </a:r>
          </a:p>
          <a:p>
            <a:r>
              <a:rPr lang="en-US" altLang="ko-KR" sz="1000" dirty="0">
                <a:latin typeface="+mn-ea"/>
              </a:rPr>
              <a:t>&gt;&gt;&gt; </a:t>
            </a:r>
            <a:r>
              <a:rPr lang="en-US" altLang="ko-KR" sz="1000" dirty="0" smtClean="0">
                <a:latin typeface="+mn-ea"/>
              </a:rPr>
              <a:t>#</a:t>
            </a:r>
            <a:r>
              <a:rPr lang="ko-KR" altLang="en-US" sz="1000" dirty="0" smtClean="0">
                <a:latin typeface="+mn-ea"/>
              </a:rPr>
              <a:t>동일한 패턴이 아니면 </a:t>
            </a:r>
            <a:r>
              <a:rPr lang="ko-KR" altLang="en-US" sz="1000" dirty="0" err="1" smtClean="0">
                <a:latin typeface="+mn-ea"/>
              </a:rPr>
              <a:t>미스매칭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&gt;&gt;&gt; if </a:t>
            </a:r>
            <a:r>
              <a:rPr lang="en-US" altLang="ko-KR" sz="1000" dirty="0" err="1">
                <a:latin typeface="+mn-ea"/>
              </a:rPr>
              <a:t>mat.match</a:t>
            </a:r>
            <a:r>
              <a:rPr lang="en-US" altLang="ko-KR" sz="1000" dirty="0">
                <a:latin typeface="+mn-ea"/>
              </a:rPr>
              <a:t>("  </a:t>
            </a:r>
            <a:r>
              <a:rPr lang="en-US" altLang="ko-KR" sz="1000" dirty="0" err="1">
                <a:latin typeface="+mn-ea"/>
              </a:rPr>
              <a:t>abc</a:t>
            </a:r>
            <a:r>
              <a:rPr lang="en-US" altLang="ko-KR" sz="1000" dirty="0">
                <a:latin typeface="+mn-ea"/>
              </a:rPr>
              <a:t>") == None :</a:t>
            </a:r>
          </a:p>
          <a:p>
            <a:r>
              <a:rPr lang="en-US" altLang="ko-KR" sz="1000" dirty="0">
                <a:latin typeface="+mn-ea"/>
              </a:rPr>
              <a:t>...     print("mismatch")</a:t>
            </a:r>
          </a:p>
          <a:p>
            <a:r>
              <a:rPr lang="en-US" altLang="ko-KR" sz="1000" dirty="0">
                <a:latin typeface="+mn-ea"/>
              </a:rPr>
              <a:t>... </a:t>
            </a:r>
          </a:p>
          <a:p>
            <a:r>
              <a:rPr lang="en-US" altLang="ko-KR" sz="1000" dirty="0">
                <a:latin typeface="+mn-ea"/>
              </a:rPr>
              <a:t>mismatch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09456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search – match object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51520" y="836712"/>
            <a:ext cx="8229600" cy="67667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+mn-ea"/>
              </a:rPr>
              <a:t>내부에 있는 패턴을 검색하여 처음부터 매칭되는 것을 검색하여 매칭시킴</a:t>
            </a:r>
            <a:endParaRPr lang="en-US" altLang="ko-KR" sz="14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2202744"/>
              </p:ext>
            </p:extLst>
          </p:nvPr>
        </p:nvGraphicFramePr>
        <p:xfrm>
          <a:off x="4499992" y="1700808"/>
          <a:ext cx="4392488" cy="3312368"/>
        </p:xfrm>
        <a:graphic>
          <a:graphicData uri="http://schemas.openxmlformats.org/drawingml/2006/table">
            <a:tbl>
              <a:tblPr/>
              <a:tblGrid>
                <a:gridCol w="1435338"/>
                <a:gridCol w="2957150"/>
              </a:tblGrid>
              <a:tr h="46873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Method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687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group()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문자열을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2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start()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시작 위치를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26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end()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끝 위치를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10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span()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끝</a:t>
                      </a:r>
                      <a:r>
                        <a:rPr lang="en-US" altLang="ko-KR" sz="1200" dirty="0">
                          <a:effectLst/>
                        </a:rPr>
                        <a:t>) </a:t>
                      </a:r>
                      <a:r>
                        <a:rPr lang="ko-KR" altLang="en-US" sz="1200" dirty="0">
                          <a:effectLst/>
                        </a:rPr>
                        <a:t>에 해당되는 </a:t>
                      </a:r>
                      <a:r>
                        <a:rPr lang="ko-KR" altLang="en-US" sz="1200" dirty="0" err="1">
                          <a:effectLst/>
                        </a:rPr>
                        <a:t>튜플을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23528" y="1700808"/>
            <a:ext cx="3888432" cy="3384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latin typeface="+mn-ea"/>
              </a:rPr>
              <a:t>&gt;&gt;&gt; mat = </a:t>
            </a:r>
            <a:r>
              <a:rPr lang="en-US" altLang="ko-KR" sz="1400" dirty="0" err="1">
                <a:latin typeface="+mn-ea"/>
              </a:rPr>
              <a:t>re.compile</a:t>
            </a:r>
            <a:r>
              <a:rPr lang="en-US" altLang="ko-KR" sz="1400" dirty="0">
                <a:latin typeface="+mn-ea"/>
              </a:rPr>
              <a:t>("[a-z</a:t>
            </a:r>
            <a:r>
              <a:rPr lang="en-US" altLang="ko-KR" sz="1400" dirty="0" smtClean="0">
                <a:latin typeface="+mn-ea"/>
              </a:rPr>
              <a:t>]+")</a:t>
            </a:r>
          </a:p>
          <a:p>
            <a:r>
              <a:rPr lang="en-US" altLang="ko-KR" sz="1400" dirty="0">
                <a:latin typeface="+mn-ea"/>
              </a:rPr>
              <a:t>&gt;&gt;&gt; mat</a:t>
            </a:r>
          </a:p>
          <a:p>
            <a:r>
              <a:rPr lang="en-US" altLang="ko-KR" sz="1400" dirty="0">
                <a:latin typeface="+mn-ea"/>
              </a:rPr>
              <a:t>&lt;_</a:t>
            </a:r>
            <a:r>
              <a:rPr lang="en-US" altLang="ko-KR" sz="1400" dirty="0" err="1">
                <a:latin typeface="+mn-ea"/>
              </a:rPr>
              <a:t>sre.SRE_Pattern</a:t>
            </a:r>
            <a:r>
              <a:rPr lang="en-US" altLang="ko-KR" sz="1400" dirty="0">
                <a:latin typeface="+mn-ea"/>
              </a:rPr>
              <a:t> object at 0x063D2C60&gt;</a:t>
            </a:r>
          </a:p>
          <a:p>
            <a:r>
              <a:rPr lang="en-US" altLang="ko-KR" sz="1400" dirty="0">
                <a:latin typeface="+mn-ea"/>
              </a:rPr>
              <a:t>&gt;&gt;&gt; 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&gt;&gt;&gt; so1 = </a:t>
            </a:r>
            <a:r>
              <a:rPr lang="en-US" altLang="ko-KR" sz="1400" dirty="0" err="1">
                <a:latin typeface="+mn-ea"/>
              </a:rPr>
              <a:t>mat.search</a:t>
            </a:r>
            <a:r>
              <a:rPr lang="en-US" altLang="ko-KR" sz="1400" dirty="0">
                <a:latin typeface="+mn-ea"/>
              </a:rPr>
              <a:t>("123abc")</a:t>
            </a:r>
          </a:p>
          <a:p>
            <a:r>
              <a:rPr lang="en-US" altLang="ko-KR" sz="1400" dirty="0">
                <a:latin typeface="+mn-ea"/>
              </a:rPr>
              <a:t>&gt;&gt;&gt; so1</a:t>
            </a:r>
          </a:p>
          <a:p>
            <a:r>
              <a:rPr lang="en-US" altLang="ko-KR" sz="1400" dirty="0">
                <a:latin typeface="+mn-ea"/>
              </a:rPr>
              <a:t>&lt;_</a:t>
            </a:r>
            <a:r>
              <a:rPr lang="en-US" altLang="ko-KR" sz="1400" dirty="0" err="1">
                <a:latin typeface="+mn-ea"/>
              </a:rPr>
              <a:t>sre.SRE_Match</a:t>
            </a:r>
            <a:r>
              <a:rPr lang="en-US" altLang="ko-KR" sz="1400" dirty="0">
                <a:latin typeface="+mn-ea"/>
              </a:rPr>
              <a:t> object at 0x06556608&gt;</a:t>
            </a:r>
          </a:p>
          <a:p>
            <a:r>
              <a:rPr lang="en-US" altLang="ko-KR" sz="1400" dirty="0">
                <a:latin typeface="+mn-ea"/>
              </a:rPr>
              <a:t>&gt;&gt;&gt; so1.group()</a:t>
            </a:r>
          </a:p>
          <a:p>
            <a:r>
              <a:rPr lang="en-US" altLang="ko-KR" sz="1400" dirty="0">
                <a:latin typeface="+mn-ea"/>
              </a:rPr>
              <a:t>'</a:t>
            </a:r>
            <a:r>
              <a:rPr lang="en-US" altLang="ko-KR" sz="1400" dirty="0" err="1">
                <a:latin typeface="+mn-ea"/>
              </a:rPr>
              <a:t>abc</a:t>
            </a:r>
            <a:r>
              <a:rPr lang="en-US" altLang="ko-KR" sz="1400" dirty="0">
                <a:latin typeface="+mn-ea"/>
              </a:rPr>
              <a:t>'</a:t>
            </a:r>
          </a:p>
          <a:p>
            <a:r>
              <a:rPr lang="en-US" altLang="ko-KR" sz="1400" dirty="0">
                <a:latin typeface="+mn-ea"/>
              </a:rPr>
              <a:t>&gt;&gt;&gt; so1.start()</a:t>
            </a:r>
          </a:p>
          <a:p>
            <a:r>
              <a:rPr lang="en-US" altLang="ko-KR" sz="1400" dirty="0">
                <a:latin typeface="+mn-ea"/>
              </a:rPr>
              <a:t>3</a:t>
            </a:r>
          </a:p>
          <a:p>
            <a:r>
              <a:rPr lang="en-US" altLang="ko-KR" sz="1400" dirty="0">
                <a:latin typeface="+mn-ea"/>
              </a:rPr>
              <a:t>&gt;&gt;&gt; so1.end()</a:t>
            </a:r>
          </a:p>
          <a:p>
            <a:r>
              <a:rPr lang="en-US" altLang="ko-KR" sz="1400" dirty="0">
                <a:latin typeface="+mn-ea"/>
              </a:rPr>
              <a:t>6</a:t>
            </a:r>
          </a:p>
          <a:p>
            <a:r>
              <a:rPr lang="en-US" altLang="ko-KR" sz="1400" dirty="0">
                <a:latin typeface="+mn-ea"/>
              </a:rPr>
              <a:t>&gt;&gt;&gt; so1.span()</a:t>
            </a:r>
          </a:p>
          <a:p>
            <a:r>
              <a:rPr lang="en-US" altLang="ko-KR" sz="1400" dirty="0">
                <a:latin typeface="+mn-ea"/>
              </a:rPr>
              <a:t>(3, 6)</a:t>
            </a:r>
          </a:p>
          <a:p>
            <a:r>
              <a:rPr lang="en-US" altLang="ko-KR" sz="1400" dirty="0">
                <a:latin typeface="+mn-ea"/>
              </a:rPr>
              <a:t>&gt;&gt;&gt; 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89619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search – named group </a:t>
            </a:r>
            <a:r>
              <a:rPr lang="ko-KR" altLang="en-US" b="1" dirty="0" smtClean="0"/>
              <a:t>처리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51520" y="836712"/>
            <a:ext cx="8229600" cy="122413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 smtClean="0">
                <a:latin typeface="+mn-ea"/>
              </a:rPr>
              <a:t>Group </a:t>
            </a:r>
            <a:r>
              <a:rPr lang="ko-KR" altLang="en-US" sz="1800" dirty="0" smtClean="0">
                <a:latin typeface="+mn-ea"/>
              </a:rPr>
              <a:t>패턴에 특정 이름을 부여하고 </a:t>
            </a:r>
            <a:r>
              <a:rPr lang="ko-KR" altLang="en-US" sz="1800" dirty="0" err="1" smtClean="0">
                <a:latin typeface="+mn-ea"/>
              </a:rPr>
              <a:t>패턴매칭</a:t>
            </a:r>
            <a:r>
              <a:rPr lang="ko-KR" altLang="en-US" sz="1800" dirty="0" smtClean="0">
                <a:latin typeface="+mn-ea"/>
              </a:rPr>
              <a:t> 후에 그 이름 별로 검색</a:t>
            </a:r>
            <a:endParaRPr lang="en-US" altLang="ko-KR" sz="1800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95536" y="1484784"/>
            <a:ext cx="4536504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latin typeface="+mn-ea"/>
              </a:rPr>
              <a:t>import re</a:t>
            </a:r>
          </a:p>
          <a:p>
            <a:r>
              <a:rPr lang="en-US" altLang="ko-KR" sz="1000" dirty="0">
                <a:latin typeface="+mn-ea"/>
              </a:rPr>
              <a:t>match = </a:t>
            </a:r>
            <a:r>
              <a:rPr lang="en-US" altLang="ko-KR" sz="1000" dirty="0" err="1">
                <a:latin typeface="+mn-ea"/>
              </a:rPr>
              <a:t>re.search</a:t>
            </a:r>
            <a:r>
              <a:rPr lang="en-US" altLang="ko-KR" sz="1000" dirty="0">
                <a:latin typeface="+mn-ea"/>
              </a:rPr>
              <a:t>('(?P&lt;name&gt;.*) (?P&lt;phone&gt;.*)', 'John 123456')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</a:t>
            </a:r>
            <a:r>
              <a:rPr lang="en-US" altLang="ko-KR" sz="1000" dirty="0">
                <a:latin typeface="+mn-ea"/>
              </a:rPr>
              <a:t>('name') 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</a:t>
            </a:r>
            <a:r>
              <a:rPr lang="en-US" altLang="ko-KR" sz="1000" dirty="0">
                <a:latin typeface="+mn-ea"/>
              </a:rPr>
              <a:t>('phone') </a:t>
            </a: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match = </a:t>
            </a:r>
            <a:r>
              <a:rPr lang="en-US" altLang="ko-KR" sz="1000" dirty="0" err="1">
                <a:latin typeface="+mn-ea"/>
              </a:rPr>
              <a:t>re.search</a:t>
            </a:r>
            <a:r>
              <a:rPr lang="en-US" altLang="ko-KR" sz="1000" dirty="0">
                <a:latin typeface="+mn-ea"/>
              </a:rPr>
              <a:t>('(.*) (.*)', 'John 123456')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</a:t>
            </a:r>
            <a:r>
              <a:rPr lang="en-US" altLang="ko-KR" sz="1000" dirty="0">
                <a:latin typeface="+mn-ea"/>
              </a:rPr>
              <a:t>(0) 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</a:t>
            </a:r>
            <a:r>
              <a:rPr lang="en-US" altLang="ko-KR" sz="1000" dirty="0">
                <a:latin typeface="+mn-ea"/>
              </a:rPr>
              <a:t>(1) 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</a:t>
            </a:r>
            <a:r>
              <a:rPr lang="en-US" altLang="ko-KR" sz="1000" dirty="0">
                <a:latin typeface="+mn-ea"/>
              </a:rPr>
              <a:t>(2)</a:t>
            </a:r>
          </a:p>
          <a:p>
            <a:r>
              <a:rPr lang="en-US" altLang="ko-KR" sz="1000" dirty="0">
                <a:latin typeface="+mn-ea"/>
              </a:rPr>
              <a:t>print </a:t>
            </a:r>
            <a:r>
              <a:rPr lang="en-US" altLang="ko-KR" sz="1000" dirty="0" err="1">
                <a:latin typeface="+mn-ea"/>
              </a:rPr>
              <a:t>match.groups</a:t>
            </a:r>
            <a:r>
              <a:rPr lang="en-US" altLang="ko-KR" sz="1000" dirty="0">
                <a:latin typeface="+mn-ea"/>
              </a:rPr>
              <a:t>()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6096" y="1556792"/>
            <a:ext cx="2304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</a:rPr>
              <a:t>#</a:t>
            </a:r>
            <a:r>
              <a:rPr lang="ko-KR" altLang="en-US" dirty="0" smtClean="0">
                <a:latin typeface="+mn-ea"/>
              </a:rPr>
              <a:t>결과값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John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123456</a:t>
            </a:r>
          </a:p>
          <a:p>
            <a:r>
              <a:rPr lang="en-US" altLang="ko-KR" dirty="0">
                <a:latin typeface="+mn-ea"/>
              </a:rPr>
              <a:t>John 123456</a:t>
            </a:r>
          </a:p>
          <a:p>
            <a:r>
              <a:rPr lang="en-US" altLang="ko-KR" dirty="0">
                <a:latin typeface="+mn-ea"/>
              </a:rPr>
              <a:t>John</a:t>
            </a:r>
          </a:p>
          <a:p>
            <a:r>
              <a:rPr lang="en-US" altLang="ko-KR" dirty="0">
                <a:latin typeface="+mn-ea"/>
              </a:rPr>
              <a:t>123456</a:t>
            </a:r>
          </a:p>
          <a:p>
            <a:r>
              <a:rPr lang="en-US" altLang="ko-KR" dirty="0">
                <a:latin typeface="+mn-ea"/>
              </a:rPr>
              <a:t>('John', '123456')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712" y="3933056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</a:rPr>
              <a:t>Group()</a:t>
            </a:r>
            <a:r>
              <a:rPr lang="ko-KR" altLang="en-US" dirty="0" smtClean="0">
                <a:latin typeface="+mn-ea"/>
              </a:rPr>
              <a:t>에서 인덱스로 </a:t>
            </a:r>
            <a:r>
              <a:rPr lang="ko-KR" altLang="en-US" dirty="0" err="1" smtClean="0">
                <a:latin typeface="+mn-ea"/>
              </a:rPr>
              <a:t>조회시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그룹핑</a:t>
            </a:r>
            <a:r>
              <a:rPr lang="ko-KR" altLang="en-US" dirty="0" smtClean="0">
                <a:latin typeface="+mn-ea"/>
              </a:rPr>
              <a:t> 된 결과는 인덱스가 </a:t>
            </a:r>
            <a:r>
              <a:rPr lang="en-US" altLang="ko-KR" dirty="0" smtClean="0">
                <a:latin typeface="+mn-ea"/>
              </a:rPr>
              <a:t>1</a:t>
            </a:r>
            <a:r>
              <a:rPr lang="ko-KR" altLang="en-US" dirty="0" smtClean="0">
                <a:latin typeface="+mn-ea"/>
              </a:rPr>
              <a:t>번부터 조회해야 함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96144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sub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5983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함수</a:t>
            </a:r>
            <a:r>
              <a:rPr lang="en-US" altLang="ko-KR" b="1" dirty="0" smtClean="0"/>
              <a:t>:</a:t>
            </a:r>
            <a:r>
              <a:rPr lang="ko-KR" altLang="en-US" b="1" dirty="0" smtClean="0"/>
              <a:t>문자열 수정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229600" cy="13247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문자열에 패턴을 찾아 변경이 필요한 경우 처리</a:t>
            </a:r>
            <a:r>
              <a:rPr lang="en-US" altLang="ko-KR" sz="1800" dirty="0" smtClean="0"/>
              <a:t>match</a:t>
            </a:r>
            <a:r>
              <a:rPr lang="en-US" altLang="ko-KR" sz="1800" dirty="0"/>
              <a:t>, search</a:t>
            </a:r>
            <a:r>
              <a:rPr lang="ko-KR" altLang="en-US" sz="1800" dirty="0"/>
              <a:t>는 정규식과 매치될 때에는 </a:t>
            </a:r>
            <a:r>
              <a:rPr lang="en-US" altLang="ko-KR" sz="1800" dirty="0"/>
              <a:t>match object</a:t>
            </a:r>
            <a:r>
              <a:rPr lang="ko-KR" altLang="en-US" sz="1800" dirty="0"/>
              <a:t>를 </a:t>
            </a:r>
            <a:r>
              <a:rPr lang="ko-KR" altLang="en-US" sz="1800" dirty="0" err="1"/>
              <a:t>리턴하고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매치되지 </a:t>
            </a:r>
            <a:r>
              <a:rPr lang="ko-KR" altLang="en-US" sz="1800" dirty="0"/>
              <a:t>않을 경우에는 </a:t>
            </a:r>
            <a:r>
              <a:rPr lang="en-US" altLang="ko-KR" sz="1800" dirty="0"/>
              <a:t>None</a:t>
            </a:r>
            <a:r>
              <a:rPr lang="ko-KR" altLang="en-US" sz="1800" dirty="0"/>
              <a:t>을 </a:t>
            </a:r>
            <a:r>
              <a:rPr lang="ko-KR" altLang="en-US" sz="1800" dirty="0" smtClean="0"/>
              <a:t>리턴</a:t>
            </a:r>
            <a:endParaRPr lang="en-US" altLang="ko-KR" sz="1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29301540"/>
              </p:ext>
            </p:extLst>
          </p:nvPr>
        </p:nvGraphicFramePr>
        <p:xfrm>
          <a:off x="539552" y="2089447"/>
          <a:ext cx="8153400" cy="1005840"/>
        </p:xfrm>
        <a:graphic>
          <a:graphicData uri="http://schemas.openxmlformats.org/drawingml/2006/table">
            <a:tbl>
              <a:tblPr/>
              <a:tblGrid>
                <a:gridCol w="2664296"/>
                <a:gridCol w="548910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함수</a:t>
                      </a:r>
                      <a:endParaRPr 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effectLst/>
                        </a:rPr>
                        <a:t>sub(</a:t>
                      </a:r>
                      <a:r>
                        <a:rPr lang="en-US" dirty="0" err="1" smtClean="0">
                          <a:effectLst/>
                        </a:rPr>
                        <a:t>pattern,replace,string</a:t>
                      </a:r>
                      <a:r>
                        <a:rPr lang="en-US" dirty="0" smtClean="0">
                          <a:effectLst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정규식에 매칭되는 것을 변경</a:t>
                      </a:r>
                      <a:r>
                        <a:rPr lang="en-US" altLang="ko-KR" dirty="0" smtClean="0">
                          <a:effectLst/>
                        </a:rPr>
                        <a:t>.</a:t>
                      </a:r>
                      <a:endParaRPr lang="en-US" altLang="ko-KR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899592" y="3539879"/>
            <a:ext cx="3600400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lvl="1">
              <a:lnSpc>
                <a:spcPct val="120000"/>
              </a:lnSpc>
            </a:pPr>
            <a:r>
              <a:rPr lang="en-US" altLang="ko-KR" sz="900" dirty="0"/>
              <a:t>phone = "010-959-559 # This is Phone Number"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# </a:t>
            </a:r>
            <a:r>
              <a:rPr lang="ko-KR" altLang="en-US" sz="900" dirty="0" smtClean="0"/>
              <a:t>주석제</a:t>
            </a:r>
            <a:r>
              <a:rPr lang="ko-KR" altLang="en-US" sz="900" dirty="0"/>
              <a:t>거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 err="1"/>
              <a:t>num</a:t>
            </a:r>
            <a:r>
              <a:rPr lang="en-US" altLang="ko-KR" sz="900" dirty="0"/>
              <a:t> = </a:t>
            </a:r>
            <a:r>
              <a:rPr lang="en-US" altLang="ko-KR" sz="900" dirty="0" err="1"/>
              <a:t>re.sub</a:t>
            </a:r>
            <a:r>
              <a:rPr lang="en-US" altLang="ko-KR" sz="900" dirty="0"/>
              <a:t>(r'#.*$', "", phone)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print "Phone </a:t>
            </a:r>
            <a:r>
              <a:rPr lang="en-US" altLang="ko-KR" sz="900" dirty="0" err="1"/>
              <a:t>Num</a:t>
            </a:r>
            <a:r>
              <a:rPr lang="en-US" altLang="ko-KR" sz="900" dirty="0"/>
              <a:t> : ", </a:t>
            </a:r>
            <a:r>
              <a:rPr lang="en-US" altLang="ko-KR" sz="900" dirty="0" err="1"/>
              <a:t>num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# </a:t>
            </a:r>
            <a:r>
              <a:rPr lang="ko-KR" altLang="en-US" sz="900" dirty="0" smtClean="0"/>
              <a:t>숫자를 제외한 모든 문자 제거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 err="1"/>
              <a:t>num</a:t>
            </a:r>
            <a:r>
              <a:rPr lang="en-US" altLang="ko-KR" sz="900" dirty="0"/>
              <a:t> = </a:t>
            </a:r>
            <a:r>
              <a:rPr lang="en-US" altLang="ko-KR" sz="900" dirty="0" err="1"/>
              <a:t>re.sub</a:t>
            </a:r>
            <a:r>
              <a:rPr lang="en-US" altLang="ko-KR" sz="900" dirty="0"/>
              <a:t>(r'\D', "", phone)    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print "Phone </a:t>
            </a:r>
            <a:r>
              <a:rPr lang="en-US" altLang="ko-KR" sz="900" dirty="0" err="1"/>
              <a:t>Num</a:t>
            </a:r>
            <a:r>
              <a:rPr lang="en-US" altLang="ko-KR" sz="900" dirty="0"/>
              <a:t> : ", </a:t>
            </a:r>
            <a:r>
              <a:rPr lang="en-US" altLang="ko-KR" sz="900" dirty="0" err="1"/>
              <a:t>num</a:t>
            </a:r>
            <a:endParaRPr lang="en-US" altLang="ko-KR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4932040" y="3601615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패턴 </a:t>
            </a:r>
            <a:r>
              <a:rPr lang="en-US" altLang="ko-KR" dirty="0" smtClean="0"/>
              <a:t>#.*$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#</a:t>
            </a:r>
            <a:r>
              <a:rPr lang="ko-KR" altLang="en-US" dirty="0" smtClean="0"/>
              <a:t>으로 시작하는 모든 문자를 </a:t>
            </a:r>
            <a:r>
              <a:rPr lang="en-US" altLang="ko-KR" dirty="0" smtClean="0"/>
              <a:t>$(</a:t>
            </a:r>
            <a:r>
              <a:rPr lang="ko-KR" altLang="en-US" dirty="0" smtClean="0"/>
              <a:t>문자열의 끝</a:t>
            </a:r>
            <a:r>
              <a:rPr lang="en-US" altLang="ko-KR" dirty="0" smtClean="0"/>
              <a:t>)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매칭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32040" y="4677345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패턴 </a:t>
            </a:r>
            <a:r>
              <a:rPr lang="en-US" altLang="ko-KR" dirty="0" smtClean="0"/>
              <a:t>\D</a:t>
            </a:r>
            <a:r>
              <a:rPr lang="ko-KR" altLang="en-US" dirty="0" smtClean="0"/>
              <a:t>는 </a:t>
            </a:r>
            <a:r>
              <a:rPr lang="ko-KR" altLang="en-US" dirty="0"/>
              <a:t> </a:t>
            </a:r>
            <a:r>
              <a:rPr lang="en-US" altLang="ko-KR" dirty="0"/>
              <a:t>[^0-9</a:t>
            </a:r>
            <a:r>
              <a:rPr lang="en-US" altLang="ko-KR" dirty="0" smtClean="0"/>
              <a:t>]</a:t>
            </a:r>
            <a:r>
              <a:rPr lang="ko-KR" altLang="en-US" dirty="0"/>
              <a:t> </a:t>
            </a:r>
            <a:r>
              <a:rPr lang="ko-KR" altLang="en-US" dirty="0" smtClean="0"/>
              <a:t>즉 숫자가 아닌 문자를 </a:t>
            </a:r>
            <a:r>
              <a:rPr lang="ko-KR" altLang="en-US" dirty="0" err="1" smtClean="0"/>
              <a:t>매칭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026338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함수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함수를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이용한 수정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229600" cy="13247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dirty="0" smtClean="0"/>
              <a:t>함수를 이용해서 매칭된 패턴을 변경</a:t>
            </a:r>
            <a:endParaRPr lang="en-US" altLang="ko-KR" sz="2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99592" y="2953543"/>
            <a:ext cx="4536504" cy="2602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lvl="1">
              <a:lnSpc>
                <a:spcPct val="120000"/>
              </a:lnSpc>
            </a:pPr>
            <a:r>
              <a:rPr lang="en-US" altLang="ko-KR" sz="1200" dirty="0"/>
              <a:t>#Squaring numbers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 err="1"/>
              <a:t>def</a:t>
            </a:r>
            <a:r>
              <a:rPr lang="en-US" altLang="ko-KR" sz="1200" dirty="0"/>
              <a:t> square(match):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    number = 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match.group</a:t>
            </a:r>
            <a:r>
              <a:rPr lang="en-US" altLang="ko-KR" sz="1200" dirty="0"/>
              <a:t>(0))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    return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(number**2)</a:t>
            </a:r>
          </a:p>
          <a:p>
            <a:pPr lvl="1">
              <a:lnSpc>
                <a:spcPct val="120000"/>
              </a:lnSpc>
            </a:pPr>
            <a:endParaRPr lang="en-US" altLang="ko-KR" sz="1200" dirty="0"/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print </a:t>
            </a:r>
            <a:r>
              <a:rPr lang="en-US" altLang="ko-KR" sz="1200" dirty="0" err="1"/>
              <a:t>re.sub</a:t>
            </a:r>
            <a:r>
              <a:rPr lang="en-US" altLang="ko-KR" sz="1200" dirty="0"/>
              <a:t>(r"\d+", square, "1 2 3 4 5 6 7 8 9")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2160" y="4393703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#</a:t>
            </a:r>
            <a:r>
              <a:rPr lang="ko-KR" altLang="en-US" sz="1200" dirty="0" smtClean="0"/>
              <a:t>처리결과값</a:t>
            </a:r>
            <a:endParaRPr lang="en-US" altLang="ko-KR" sz="1200" dirty="0" smtClean="0"/>
          </a:p>
          <a:p>
            <a:r>
              <a:rPr lang="en-US" altLang="ko-KR" sz="1200" dirty="0" smtClean="0"/>
              <a:t>1 </a:t>
            </a:r>
            <a:r>
              <a:rPr lang="en-US" altLang="ko-KR" sz="1200" dirty="0"/>
              <a:t>4 9 16 25 36 49 64 81</a:t>
            </a:r>
          </a:p>
        </p:txBody>
      </p:sp>
    </p:spTree>
    <p:extLst>
      <p:ext uri="{BB962C8B-B14F-4D97-AF65-F5344CB8AC3E}">
        <p14:creationId xmlns:p14="http://schemas.microsoft.com/office/powerpoint/2010/main" xmlns="" val="23472725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함수</a:t>
            </a:r>
            <a:r>
              <a:rPr lang="en-US" altLang="ko-KR" b="1" dirty="0" smtClean="0"/>
              <a:t>:</a:t>
            </a:r>
            <a:r>
              <a:rPr lang="en-US" altLang="ko-KR" b="1" dirty="0"/>
              <a:t>Greedy vs Non-Greedy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229600" cy="132474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/>
              <a:t>Greedy</a:t>
            </a:r>
            <a:r>
              <a:rPr lang="ko-KR" altLang="en-US" sz="2800" dirty="0" smtClean="0"/>
              <a:t>와 </a:t>
            </a:r>
            <a:r>
              <a:rPr lang="en-US" altLang="ko-KR" sz="2800" dirty="0" smtClean="0"/>
              <a:t>Non-Greedy </a:t>
            </a:r>
            <a:r>
              <a:rPr lang="ko-KR" altLang="en-US" sz="2800" dirty="0" smtClean="0"/>
              <a:t>에 대한 패턴을 명확히 해서 수정해야 함</a:t>
            </a:r>
            <a:endParaRPr lang="en-US" altLang="ko-KR" sz="2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99592" y="3539879"/>
            <a:ext cx="3600400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1000" dirty="0"/>
              <a:t>s = '&lt;html&gt;&lt;head&gt;&lt;title&gt;Title&lt;/title&gt;'</a:t>
            </a:r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len</a:t>
            </a:r>
            <a:r>
              <a:rPr lang="en-US" altLang="ko-KR" sz="1000" dirty="0"/>
              <a:t>(s)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dirty="0"/>
              <a:t>print(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('&lt;.*&gt;', s).span())</a:t>
            </a:r>
          </a:p>
          <a:p>
            <a:r>
              <a:rPr lang="en-US" altLang="ko-KR" sz="1000" dirty="0"/>
              <a:t>print(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('&lt;.*&gt;', s).group</a:t>
            </a:r>
            <a:r>
              <a:rPr lang="en-US" altLang="ko-KR" sz="1000" dirty="0" smtClean="0"/>
              <a:t>())</a:t>
            </a:r>
          </a:p>
          <a:p>
            <a:endParaRPr lang="en-US" altLang="ko-KR" sz="1000" dirty="0"/>
          </a:p>
          <a:p>
            <a:r>
              <a:rPr lang="en-US" altLang="ko-KR" sz="1000" dirty="0"/>
              <a:t>print(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('&lt;.*?&gt;', s).span())</a:t>
            </a:r>
          </a:p>
          <a:p>
            <a:r>
              <a:rPr lang="en-US" altLang="ko-KR" sz="1000" dirty="0"/>
              <a:t>print(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('&lt;.*?&gt;', s).group())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040" y="3601615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&lt;.*&gt; </a:t>
            </a:r>
            <a:r>
              <a:rPr lang="ko-KR" altLang="en-US" dirty="0" smtClean="0"/>
              <a:t>패턴은 모든 </a:t>
            </a:r>
            <a:r>
              <a:rPr lang="ko-KR" altLang="en-US" dirty="0" err="1" smtClean="0"/>
              <a:t>매칭을</a:t>
            </a:r>
            <a:r>
              <a:rPr lang="ko-KR" altLang="en-US" dirty="0" smtClean="0"/>
              <a:t> 다 처리해서 결과는</a:t>
            </a:r>
            <a:r>
              <a:rPr lang="en-US" altLang="ko-KR" dirty="0"/>
              <a:t> </a:t>
            </a:r>
            <a:r>
              <a:rPr lang="en-US" altLang="ko-KR" dirty="0" smtClean="0"/>
              <a:t>&lt;html</a:t>
            </a:r>
            <a:r>
              <a:rPr lang="en-US" altLang="ko-KR" dirty="0"/>
              <a:t>&gt;&lt;head&gt;&lt;title&gt;Title&lt;/title&gt;'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04048" y="5000510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&lt;.*?&gt; </a:t>
            </a:r>
            <a:r>
              <a:rPr lang="ko-KR" altLang="en-US" dirty="0" smtClean="0"/>
              <a:t>패턴 </a:t>
            </a:r>
            <a:r>
              <a:rPr lang="ko-KR" altLang="en-US" dirty="0" err="1" smtClean="0"/>
              <a:t>첫번째만</a:t>
            </a:r>
            <a:r>
              <a:rPr lang="ko-KR" altLang="en-US" dirty="0" smtClean="0"/>
              <a:t> </a:t>
            </a:r>
            <a:r>
              <a:rPr lang="ko-KR" altLang="en-US" dirty="0"/>
              <a:t>처리해서 결과는</a:t>
            </a:r>
            <a:r>
              <a:rPr lang="en-US" altLang="ko-KR" dirty="0"/>
              <a:t> &lt;html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919067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smtClean="0"/>
              <a:t>검색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6074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 smtClean="0"/>
              <a:t>findall</a:t>
            </a:r>
            <a:endParaRPr lang="ko-KR" altLang="en-US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93217636"/>
              </p:ext>
            </p:extLst>
          </p:nvPr>
        </p:nvGraphicFramePr>
        <p:xfrm>
          <a:off x="611560" y="1196752"/>
          <a:ext cx="8153400" cy="1005840"/>
        </p:xfrm>
        <a:graphic>
          <a:graphicData uri="http://schemas.openxmlformats.org/drawingml/2006/table">
            <a:tbl>
              <a:tblPr/>
              <a:tblGrid>
                <a:gridCol w="2664296"/>
                <a:gridCol w="548910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함수</a:t>
                      </a:r>
                      <a:endParaRPr 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effectLst/>
                        </a:rPr>
                        <a:t>findall</a:t>
                      </a:r>
                      <a:r>
                        <a:rPr lang="en-US" dirty="0" smtClean="0">
                          <a:effectLst/>
                        </a:rPr>
                        <a:t>(pattern, string, flags=0)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정규식에 매칭되는 것을 검색 후 리스트로 출력</a:t>
                      </a:r>
                      <a:r>
                        <a:rPr lang="en-US" altLang="ko-KR" dirty="0" smtClean="0">
                          <a:effectLst/>
                        </a:rPr>
                        <a:t>.</a:t>
                      </a:r>
                      <a:endParaRPr lang="en-US" altLang="ko-KR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899592" y="3223248"/>
            <a:ext cx="3600400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lvl="1">
              <a:lnSpc>
                <a:spcPct val="120000"/>
              </a:lnSpc>
            </a:pPr>
            <a:r>
              <a:rPr lang="en-US" altLang="ko-KR" sz="900" dirty="0"/>
              <a:t>In [65]: x = "</a:t>
            </a:r>
            <a:r>
              <a:rPr lang="en-US" altLang="ko-KR" sz="900" dirty="0" err="1"/>
              <a:t>abcdef</a:t>
            </a:r>
            <a:r>
              <a:rPr lang="en-US" altLang="ko-KR" sz="900" dirty="0"/>
              <a:t>"</a:t>
            </a:r>
          </a:p>
          <a:p>
            <a:pPr lvl="1">
              <a:lnSpc>
                <a:spcPct val="120000"/>
              </a:lnSpc>
            </a:pP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In [66]: </a:t>
            </a:r>
            <a:r>
              <a:rPr lang="en-US" altLang="ko-KR" sz="900" dirty="0" err="1"/>
              <a:t>re.findall</a:t>
            </a:r>
            <a:r>
              <a:rPr lang="en-US" altLang="ko-KR" sz="900" dirty="0"/>
              <a:t>(".+(?=</a:t>
            </a:r>
            <a:r>
              <a:rPr lang="en-US" altLang="ko-KR" sz="900" dirty="0" err="1"/>
              <a:t>def</a:t>
            </a:r>
            <a:r>
              <a:rPr lang="en-US" altLang="ko-KR" sz="900" dirty="0"/>
              <a:t>)",x)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Out[66]: ['</a:t>
            </a:r>
            <a:r>
              <a:rPr lang="en-US" altLang="ko-KR" sz="900" dirty="0" err="1"/>
              <a:t>abc</a:t>
            </a:r>
            <a:r>
              <a:rPr lang="en-US" altLang="ko-KR" sz="900" dirty="0"/>
              <a:t>']</a:t>
            </a:r>
          </a:p>
          <a:p>
            <a:pPr lvl="1">
              <a:lnSpc>
                <a:spcPct val="120000"/>
              </a:lnSpc>
            </a:pP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In [67]: </a:t>
            </a:r>
            <a:r>
              <a:rPr lang="en-US" altLang="ko-KR" sz="900" dirty="0" err="1"/>
              <a:t>re.findall</a:t>
            </a:r>
            <a:r>
              <a:rPr lang="en-US" altLang="ko-KR" sz="900" dirty="0"/>
              <a:t>("(?=</a:t>
            </a:r>
            <a:r>
              <a:rPr lang="en-US" altLang="ko-KR" sz="900" dirty="0" err="1"/>
              <a:t>abc</a:t>
            </a:r>
            <a:r>
              <a:rPr lang="en-US" altLang="ko-KR" sz="900" dirty="0"/>
              <a:t>).+",x)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Out[67]: ['</a:t>
            </a:r>
            <a:r>
              <a:rPr lang="en-US" altLang="ko-KR" sz="900" dirty="0" err="1"/>
              <a:t>abcdef</a:t>
            </a:r>
            <a:r>
              <a:rPr lang="en-US" altLang="ko-KR" sz="900" dirty="0"/>
              <a:t>']</a:t>
            </a:r>
          </a:p>
          <a:p>
            <a:pPr lvl="1">
              <a:lnSpc>
                <a:spcPct val="120000"/>
              </a:lnSpc>
            </a:pP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In [68]: </a:t>
            </a:r>
            <a:r>
              <a:rPr lang="en-US" altLang="ko-KR" sz="900" dirty="0" err="1"/>
              <a:t>re.findall</a:t>
            </a:r>
            <a:r>
              <a:rPr lang="en-US" altLang="ko-KR" sz="900" dirty="0"/>
              <a:t>("(?&lt;=</a:t>
            </a:r>
            <a:r>
              <a:rPr lang="en-US" altLang="ko-KR" sz="900" dirty="0" err="1"/>
              <a:t>abc</a:t>
            </a:r>
            <a:r>
              <a:rPr lang="en-US" altLang="ko-KR" sz="900" dirty="0"/>
              <a:t>).+",x)</a:t>
            </a:r>
          </a:p>
          <a:p>
            <a:pPr lvl="1">
              <a:lnSpc>
                <a:spcPct val="120000"/>
              </a:lnSpc>
            </a:pPr>
            <a:r>
              <a:rPr lang="en-US" altLang="ko-KR" sz="900" dirty="0"/>
              <a:t>Out[68]: ['</a:t>
            </a:r>
            <a:r>
              <a:rPr lang="en-US" altLang="ko-KR" sz="900" dirty="0" err="1"/>
              <a:t>def</a:t>
            </a:r>
            <a:r>
              <a:rPr lang="en-US" altLang="ko-KR" sz="900" dirty="0"/>
              <a:t>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64" y="3501008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In[67]</a:t>
            </a:r>
            <a:r>
              <a:rPr lang="ko-KR" altLang="en-US" dirty="0" smtClean="0"/>
              <a:t>은 전방인식이 안되어서 </a:t>
            </a:r>
            <a:r>
              <a:rPr lang="en-US" altLang="ko-KR" dirty="0" smtClean="0"/>
              <a:t>.+</a:t>
            </a:r>
            <a:r>
              <a:rPr lang="ko-KR" altLang="en-US" dirty="0" smtClean="0"/>
              <a:t>로 패턴 </a:t>
            </a:r>
            <a:r>
              <a:rPr lang="ko-KR" altLang="en-US" dirty="0" err="1" smtClean="0"/>
              <a:t>매칭</a:t>
            </a:r>
            <a:r>
              <a:rPr lang="ko-KR" altLang="en-US" dirty="0" smtClean="0"/>
              <a:t> 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478748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 smtClean="0"/>
              <a:t>finditer</a:t>
            </a:r>
            <a:endParaRPr lang="ko-KR" altLang="en-US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71140878"/>
              </p:ext>
            </p:extLst>
          </p:nvPr>
        </p:nvGraphicFramePr>
        <p:xfrm>
          <a:off x="611560" y="2163727"/>
          <a:ext cx="8153400" cy="1005840"/>
        </p:xfrm>
        <a:graphic>
          <a:graphicData uri="http://schemas.openxmlformats.org/drawingml/2006/table">
            <a:tbl>
              <a:tblPr/>
              <a:tblGrid>
                <a:gridCol w="2664296"/>
                <a:gridCol w="548910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함수</a:t>
                      </a:r>
                      <a:endParaRPr 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effectLst/>
                        </a:rPr>
                        <a:t>finditer</a:t>
                      </a:r>
                      <a:r>
                        <a:rPr lang="en-US" dirty="0" smtClean="0">
                          <a:effectLst/>
                        </a:rPr>
                        <a:t>(pattern, string, flags=0)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정규식에 매칭되는 것을 검색 후 </a:t>
                      </a:r>
                      <a:r>
                        <a:rPr lang="en-US" altLang="ko-KR" dirty="0" err="1" smtClean="0">
                          <a:effectLst/>
                        </a:rPr>
                        <a:t>iterable</a:t>
                      </a:r>
                      <a:r>
                        <a:rPr lang="en-US" altLang="ko-KR" baseline="0" dirty="0" smtClean="0">
                          <a:effectLst/>
                        </a:rPr>
                        <a:t> </a:t>
                      </a:r>
                      <a:r>
                        <a:rPr lang="ko-KR" altLang="en-US" baseline="0" dirty="0" smtClean="0">
                          <a:effectLst/>
                        </a:rPr>
                        <a:t>객체</a:t>
                      </a:r>
                      <a:r>
                        <a:rPr lang="ko-KR" altLang="en-US" dirty="0" smtClean="0">
                          <a:effectLst/>
                        </a:rPr>
                        <a:t>로 출력되므로 실제 </a:t>
                      </a:r>
                      <a:r>
                        <a:rPr lang="ko-KR" altLang="en-US" dirty="0" err="1" smtClean="0">
                          <a:effectLst/>
                        </a:rPr>
                        <a:t>루핑을</a:t>
                      </a:r>
                      <a:r>
                        <a:rPr lang="ko-KR" altLang="en-US" dirty="0" smtClean="0">
                          <a:effectLst/>
                        </a:rPr>
                        <a:t> 처리가 필요</a:t>
                      </a:r>
                      <a:endParaRPr lang="en-US" altLang="ko-KR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899592" y="3611887"/>
            <a:ext cx="4824536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lvl="1">
              <a:lnSpc>
                <a:spcPct val="120000"/>
              </a:lnSpc>
            </a:pPr>
            <a:r>
              <a:rPr lang="en-US" altLang="ko-KR" sz="1200" dirty="0"/>
              <a:t>match =</a:t>
            </a:r>
            <a:r>
              <a:rPr lang="en-US" altLang="ko-KR" sz="1200" dirty="0" err="1"/>
              <a:t>re.finditer</a:t>
            </a:r>
            <a:r>
              <a:rPr lang="en-US" altLang="ko-KR" sz="1200" dirty="0"/>
              <a:t>(r'\</a:t>
            </a:r>
            <a:r>
              <a:rPr lang="en-US" altLang="ko-KR" sz="1200" dirty="0" err="1"/>
              <a:t>w','http</a:t>
            </a:r>
            <a:r>
              <a:rPr lang="en-US" altLang="ko-KR" sz="1200" dirty="0"/>
              <a:t>://www.hackerrank.com/')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print match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for x in match :</a:t>
            </a:r>
          </a:p>
          <a:p>
            <a:pPr lvl="1">
              <a:lnSpc>
                <a:spcPct val="120000"/>
              </a:lnSpc>
            </a:pPr>
            <a:r>
              <a:rPr lang="en-US" altLang="ko-KR" sz="1200" dirty="0"/>
              <a:t>    print </a:t>
            </a:r>
            <a:r>
              <a:rPr lang="en-US" altLang="ko-KR" sz="1200" dirty="0" err="1"/>
              <a:t>x.group</a:t>
            </a:r>
            <a:r>
              <a:rPr lang="en-US" altLang="ko-KR" sz="1200" dirty="0"/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168" y="3245167"/>
            <a:ext cx="2520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ko-KR" sz="800" dirty="0"/>
              <a:t>&lt;callable-iterator object at 0x10573E90&gt;</a:t>
            </a:r>
          </a:p>
          <a:p>
            <a:r>
              <a:rPr lang="pt-BR" altLang="ko-KR" sz="800" dirty="0"/>
              <a:t>h</a:t>
            </a:r>
          </a:p>
          <a:p>
            <a:r>
              <a:rPr lang="pt-BR" altLang="ko-KR" sz="800" dirty="0"/>
              <a:t>t</a:t>
            </a:r>
          </a:p>
          <a:p>
            <a:r>
              <a:rPr lang="pt-BR" altLang="ko-KR" sz="800" dirty="0"/>
              <a:t>t</a:t>
            </a:r>
          </a:p>
          <a:p>
            <a:r>
              <a:rPr lang="pt-BR" altLang="ko-KR" sz="800" dirty="0"/>
              <a:t>p</a:t>
            </a:r>
          </a:p>
          <a:p>
            <a:r>
              <a:rPr lang="pt-BR" altLang="ko-KR" sz="800" dirty="0"/>
              <a:t>w</a:t>
            </a:r>
          </a:p>
          <a:p>
            <a:r>
              <a:rPr lang="pt-BR" altLang="ko-KR" sz="800" dirty="0"/>
              <a:t>w</a:t>
            </a:r>
          </a:p>
          <a:p>
            <a:r>
              <a:rPr lang="pt-BR" altLang="ko-KR" sz="800" dirty="0"/>
              <a:t>w</a:t>
            </a:r>
          </a:p>
          <a:p>
            <a:r>
              <a:rPr lang="pt-BR" altLang="ko-KR" sz="800" dirty="0"/>
              <a:t>h</a:t>
            </a:r>
          </a:p>
          <a:p>
            <a:r>
              <a:rPr lang="pt-BR" altLang="ko-KR" sz="800" dirty="0"/>
              <a:t>a</a:t>
            </a:r>
          </a:p>
          <a:p>
            <a:r>
              <a:rPr lang="pt-BR" altLang="ko-KR" sz="800" dirty="0"/>
              <a:t>c</a:t>
            </a:r>
          </a:p>
          <a:p>
            <a:r>
              <a:rPr lang="pt-BR" altLang="ko-KR" sz="800" dirty="0"/>
              <a:t>k</a:t>
            </a:r>
          </a:p>
          <a:p>
            <a:r>
              <a:rPr lang="pt-BR" altLang="ko-KR" sz="800" dirty="0"/>
              <a:t>e</a:t>
            </a:r>
          </a:p>
          <a:p>
            <a:r>
              <a:rPr lang="pt-BR" altLang="ko-KR" sz="800" dirty="0"/>
              <a:t>r</a:t>
            </a:r>
          </a:p>
          <a:p>
            <a:r>
              <a:rPr lang="pt-BR" altLang="ko-KR" sz="800" dirty="0"/>
              <a:t>r</a:t>
            </a:r>
          </a:p>
          <a:p>
            <a:r>
              <a:rPr lang="pt-BR" altLang="ko-KR" sz="800" dirty="0"/>
              <a:t>a</a:t>
            </a:r>
          </a:p>
          <a:p>
            <a:r>
              <a:rPr lang="pt-BR" altLang="ko-KR" sz="800" dirty="0"/>
              <a:t>n</a:t>
            </a:r>
          </a:p>
          <a:p>
            <a:r>
              <a:rPr lang="pt-BR" altLang="ko-KR" sz="800" dirty="0"/>
              <a:t>k</a:t>
            </a:r>
          </a:p>
          <a:p>
            <a:r>
              <a:rPr lang="pt-BR" altLang="ko-KR" sz="800" dirty="0"/>
              <a:t>c</a:t>
            </a:r>
          </a:p>
          <a:p>
            <a:r>
              <a:rPr lang="pt-BR" altLang="ko-KR" sz="800" dirty="0"/>
              <a:t>o</a:t>
            </a:r>
          </a:p>
          <a:p>
            <a:r>
              <a:rPr lang="pt-BR" altLang="ko-KR" sz="800" dirty="0"/>
              <a:t>m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229600" cy="13247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800" dirty="0" smtClean="0"/>
              <a:t>패턴 매칭된 것을 </a:t>
            </a:r>
            <a:r>
              <a:rPr lang="en-US" altLang="ko-KR" sz="2800" dirty="0" err="1" smtClean="0"/>
              <a:t>iterable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객체로 </a:t>
            </a:r>
            <a:r>
              <a:rPr lang="ko-KR" altLang="en-US" sz="2800" dirty="0" err="1" smtClean="0"/>
              <a:t>리턴하므로</a:t>
            </a:r>
            <a:r>
              <a:rPr lang="ko-KR" altLang="en-US" sz="2800" dirty="0" smtClean="0"/>
              <a:t> 실제 </a:t>
            </a:r>
            <a:r>
              <a:rPr lang="en-US" altLang="ko-KR" sz="2800" dirty="0" smtClean="0"/>
              <a:t>match object</a:t>
            </a:r>
            <a:r>
              <a:rPr lang="ko-KR" altLang="en-US" sz="2800" dirty="0" smtClean="0"/>
              <a:t>를 처리하기 위해 </a:t>
            </a:r>
            <a:r>
              <a:rPr lang="en-US" altLang="ko-KR" sz="2800" dirty="0" smtClean="0"/>
              <a:t>looping </a:t>
            </a:r>
            <a:r>
              <a:rPr lang="ko-KR" altLang="en-US" sz="2800" dirty="0" smtClean="0"/>
              <a:t>처리</a:t>
            </a:r>
            <a:endParaRPr lang="en-US" altLang="ko-KR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7187195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smtClean="0"/>
              <a:t>패턴 쪼개기 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1309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split</a:t>
            </a:r>
            <a:endParaRPr lang="ko-KR" altLang="en-US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7177062"/>
              </p:ext>
            </p:extLst>
          </p:nvPr>
        </p:nvGraphicFramePr>
        <p:xfrm>
          <a:off x="611560" y="2204864"/>
          <a:ext cx="8153400" cy="1005840"/>
        </p:xfrm>
        <a:graphic>
          <a:graphicData uri="http://schemas.openxmlformats.org/drawingml/2006/table">
            <a:tbl>
              <a:tblPr/>
              <a:tblGrid>
                <a:gridCol w="2448272"/>
                <a:gridCol w="570512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effectLst/>
                        </a:rPr>
                        <a:t>함수</a:t>
                      </a:r>
                      <a:endParaRPr lang="en-US" b="1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effectLst/>
                        </a:rPr>
                        <a:t>split(pattern, string, </a:t>
                      </a:r>
                      <a:r>
                        <a:rPr lang="en-US" dirty="0" err="1" smtClean="0">
                          <a:effectLst/>
                        </a:rPr>
                        <a:t>maxsplit</a:t>
                      </a:r>
                      <a:r>
                        <a:rPr lang="en-US" dirty="0" smtClean="0">
                          <a:effectLst/>
                        </a:rPr>
                        <a:t>=0, flags=0)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정규식에 매칭되는 것을 검색 후 쪼개서 리스트로 출력</a:t>
                      </a:r>
                      <a:r>
                        <a:rPr lang="en-US" altLang="ko-KR" dirty="0" smtClean="0">
                          <a:effectLst/>
                        </a:rPr>
                        <a:t>.</a:t>
                      </a:r>
                      <a:endParaRPr lang="en-US" altLang="ko-KR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683568" y="3933056"/>
            <a:ext cx="4392488" cy="2242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lvl="1">
              <a:lnSpc>
                <a:spcPct val="120000"/>
              </a:lnSpc>
            </a:pPr>
            <a:r>
              <a:rPr lang="en-US" altLang="ko-KR" sz="1100" dirty="0"/>
              <a:t>&gt;&gt;&gt; </a:t>
            </a:r>
            <a:r>
              <a:rPr lang="en-US" altLang="ko-KR" sz="1100" dirty="0" err="1"/>
              <a:t>re.split</a:t>
            </a:r>
            <a:r>
              <a:rPr lang="en-US" altLang="ko-KR" sz="1100" dirty="0"/>
              <a:t>('\W+', 'Words, words, words.')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['Words', 'words', 'words', '']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&gt;&gt;&gt; </a:t>
            </a:r>
            <a:r>
              <a:rPr lang="en-US" altLang="ko-KR" sz="1100" dirty="0" err="1"/>
              <a:t>re.split</a:t>
            </a:r>
            <a:r>
              <a:rPr lang="en-US" altLang="ko-KR" sz="1100" dirty="0"/>
              <a:t>('(\W+)', 'Words, words, words.')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['Words', ', ', 'words', ', ', 'words', '.', '']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&gt;&gt;&gt; </a:t>
            </a:r>
            <a:r>
              <a:rPr lang="en-US" altLang="ko-KR" sz="1100" dirty="0" err="1"/>
              <a:t>re.split</a:t>
            </a:r>
            <a:r>
              <a:rPr lang="en-US" altLang="ko-KR" sz="1100" dirty="0"/>
              <a:t>('\W+', 'Words, words, words.', 1)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['Words', 'words, words.']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&gt;&gt;&gt; </a:t>
            </a:r>
            <a:r>
              <a:rPr lang="en-US" altLang="ko-KR" sz="1100" dirty="0" err="1"/>
              <a:t>re.split</a:t>
            </a:r>
            <a:r>
              <a:rPr lang="en-US" altLang="ko-KR" sz="1100" dirty="0"/>
              <a:t>('[a-f]+', '0a3B9', flags=</a:t>
            </a:r>
            <a:r>
              <a:rPr lang="en-US" altLang="ko-KR" sz="1100" dirty="0" err="1"/>
              <a:t>re.IGNORECASE</a:t>
            </a:r>
            <a:r>
              <a:rPr lang="en-US" altLang="ko-KR" sz="1100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['0', '3', '9']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64" y="4509120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In[67]</a:t>
            </a:r>
            <a:r>
              <a:rPr lang="ko-KR" altLang="en-US" dirty="0" smtClean="0"/>
              <a:t>은 전방인식이 안되어서 </a:t>
            </a:r>
            <a:r>
              <a:rPr lang="en-US" altLang="ko-KR" dirty="0" smtClean="0"/>
              <a:t>.+</a:t>
            </a:r>
            <a:r>
              <a:rPr lang="ko-KR" altLang="en-US" dirty="0" smtClean="0"/>
              <a:t>로 패턴 </a:t>
            </a:r>
            <a:r>
              <a:rPr lang="ko-KR" altLang="en-US" dirty="0" err="1" smtClean="0"/>
              <a:t>매칭</a:t>
            </a:r>
            <a:r>
              <a:rPr lang="ko-KR" altLang="en-US" dirty="0" smtClean="0"/>
              <a:t> 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657238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 smtClean="0"/>
              <a:t>Match Object </a:t>
            </a:r>
            <a:r>
              <a:rPr lang="ko-KR" altLang="en-US" dirty="0" err="1" smtClean="0"/>
              <a:t>메소드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77380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match object method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23528" y="908720"/>
            <a:ext cx="8229600" cy="67667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/>
              <a:t>Match object </a:t>
            </a:r>
            <a:r>
              <a:rPr lang="ko-KR" altLang="en-US" sz="2800" dirty="0" smtClean="0"/>
              <a:t>내의 </a:t>
            </a:r>
            <a:r>
              <a:rPr lang="ko-KR" altLang="en-US" sz="2800" dirty="0" err="1" smtClean="0"/>
              <a:t>메소드</a:t>
            </a:r>
            <a:endParaRPr lang="en-US" altLang="ko-KR" sz="28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59745236"/>
              </p:ext>
            </p:extLst>
          </p:nvPr>
        </p:nvGraphicFramePr>
        <p:xfrm>
          <a:off x="755576" y="2348880"/>
          <a:ext cx="7200800" cy="2621531"/>
        </p:xfrm>
        <a:graphic>
          <a:graphicData uri="http://schemas.openxmlformats.org/drawingml/2006/table">
            <a:tbl>
              <a:tblPr/>
              <a:tblGrid>
                <a:gridCol w="2880320"/>
                <a:gridCol w="4320480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Method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group</a:t>
                      </a:r>
                      <a:r>
                        <a:rPr lang="en-US" sz="1200" dirty="0" smtClean="0">
                          <a:effectLst/>
                        </a:rPr>
                        <a:t>().groups(0, </a:t>
                      </a:r>
                      <a:r>
                        <a:rPr lang="en-US" sz="1200" dirty="0" err="1" smtClean="0">
                          <a:effectLst/>
                        </a:rPr>
                        <a:t>groupdict</a:t>
                      </a:r>
                      <a:r>
                        <a:rPr lang="en-US" sz="1200" dirty="0" smtClean="0">
                          <a:effectLst/>
                        </a:rPr>
                        <a:t>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문자열을 </a:t>
                      </a:r>
                      <a:r>
                        <a:rPr lang="ko-KR" altLang="en-US" sz="1200" dirty="0" smtClean="0">
                          <a:effectLst/>
                        </a:rPr>
                        <a:t>리턴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9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start</a:t>
                      </a:r>
                      <a:r>
                        <a:rPr lang="en-US" sz="1200" dirty="0" smtClean="0">
                          <a:effectLst/>
                        </a:rPr>
                        <a:t>()/end()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</a:t>
                      </a:r>
                      <a:r>
                        <a:rPr lang="ko-KR" altLang="en-US" sz="1200" dirty="0" smtClean="0">
                          <a:effectLst/>
                        </a:rPr>
                        <a:t>시작</a:t>
                      </a:r>
                      <a:r>
                        <a:rPr lang="en-US" altLang="ko-KR" sz="1200" dirty="0" smtClean="0">
                          <a:effectLst/>
                        </a:rPr>
                        <a:t>/</a:t>
                      </a:r>
                      <a:r>
                        <a:rPr lang="ko-KR" altLang="en-US" sz="1200" dirty="0" smtClean="0">
                          <a:effectLst/>
                        </a:rPr>
                        <a:t>끝 </a:t>
                      </a:r>
                      <a:r>
                        <a:rPr lang="ko-KR" altLang="en-US" sz="1200" dirty="0">
                          <a:effectLst/>
                        </a:rPr>
                        <a:t>위치를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effectLst/>
                        </a:rPr>
                        <a:t>findall</a:t>
                      </a:r>
                      <a:r>
                        <a:rPr lang="en-US" sz="1200" dirty="0" smtClean="0">
                          <a:effectLst/>
                        </a:rPr>
                        <a:t>()/</a:t>
                      </a:r>
                      <a:r>
                        <a:rPr lang="en-US" sz="1200" dirty="0" err="1" smtClean="0">
                          <a:effectLst/>
                        </a:rPr>
                        <a:t>finditer</a:t>
                      </a:r>
                      <a:r>
                        <a:rPr lang="en-US" sz="1200" dirty="0" smtClean="0">
                          <a:effectLst/>
                        </a:rPr>
                        <a:t>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smtClean="0">
                          <a:effectLst/>
                        </a:rPr>
                        <a:t>매치된 것을 리스트와 </a:t>
                      </a:r>
                      <a:r>
                        <a:rPr lang="en-US" altLang="ko-KR" sz="1200" dirty="0" err="1" smtClean="0">
                          <a:effectLst/>
                        </a:rPr>
                        <a:t>iterable</a:t>
                      </a:r>
                      <a:r>
                        <a:rPr lang="en-US" altLang="ko-KR" sz="1200" baseline="0" dirty="0" smtClean="0">
                          <a:effectLst/>
                        </a:rPr>
                        <a:t> </a:t>
                      </a:r>
                      <a:r>
                        <a:rPr lang="ko-KR" altLang="en-US" sz="1200" baseline="0" dirty="0" smtClean="0">
                          <a:effectLst/>
                        </a:rPr>
                        <a:t>객체로 리턴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split()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smtClean="0">
                          <a:effectLst/>
                        </a:rPr>
                        <a:t>매치된 결과를 </a:t>
                      </a:r>
                      <a:r>
                        <a:rPr lang="en-US" altLang="ko-KR" sz="1200" dirty="0" smtClean="0">
                          <a:effectLst/>
                        </a:rPr>
                        <a:t>split </a:t>
                      </a:r>
                      <a:r>
                        <a:rPr lang="ko-KR" altLang="en-US" sz="1200" dirty="0" smtClean="0">
                          <a:effectLst/>
                        </a:rPr>
                        <a:t>처리하고 리스트로 리턴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8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span()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매치된 문자열의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끝</a:t>
                      </a:r>
                      <a:r>
                        <a:rPr lang="en-US" altLang="ko-KR" sz="1200" dirty="0">
                          <a:effectLst/>
                        </a:rPr>
                        <a:t>) </a:t>
                      </a:r>
                      <a:r>
                        <a:rPr lang="ko-KR" altLang="en-US" sz="1200" dirty="0">
                          <a:effectLst/>
                        </a:rPr>
                        <a:t>에 해당되는 </a:t>
                      </a:r>
                      <a:r>
                        <a:rPr lang="ko-KR" altLang="en-US" sz="1200" dirty="0" err="1">
                          <a:effectLst/>
                        </a:rPr>
                        <a:t>튜플을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391899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match object </a:t>
            </a:r>
            <a:r>
              <a:rPr lang="en-US" altLang="ko-KR" b="1" dirty="0" smtClean="0"/>
              <a:t>:group </a:t>
            </a:r>
            <a:r>
              <a:rPr lang="ko-KR" altLang="en-US" b="1" dirty="0" err="1" smtClean="0"/>
              <a:t>메소드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23528" y="980728"/>
            <a:ext cx="8229600" cy="122413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/>
              <a:t>Match, search </a:t>
            </a:r>
            <a:r>
              <a:rPr lang="ko-KR" altLang="en-US" sz="2800" dirty="0" smtClean="0"/>
              <a:t>함수를 실행해서 만들어진 </a:t>
            </a:r>
            <a:r>
              <a:rPr lang="en-US" altLang="ko-KR" sz="2800" dirty="0" smtClean="0"/>
              <a:t>match object</a:t>
            </a:r>
            <a:r>
              <a:rPr lang="ko-KR" altLang="en-US" sz="2800" dirty="0" smtClean="0"/>
              <a:t>의 </a:t>
            </a:r>
            <a:r>
              <a:rPr lang="en-US" altLang="ko-KR" sz="2800" dirty="0" smtClean="0"/>
              <a:t>group() </a:t>
            </a:r>
            <a:r>
              <a:rPr lang="ko-KR" altLang="en-US" sz="2800" dirty="0" err="1" smtClean="0"/>
              <a:t>메소드</a:t>
            </a:r>
            <a:r>
              <a:rPr lang="ko-KR" altLang="en-US" sz="2800" dirty="0" smtClean="0"/>
              <a:t> 처리</a:t>
            </a:r>
            <a:endParaRPr lang="en-US" altLang="ko-KR" sz="2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467544" y="2636912"/>
            <a:ext cx="4536504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import </a:t>
            </a:r>
            <a:r>
              <a:rPr lang="en-US" altLang="ko-KR" sz="1000" dirty="0" smtClean="0"/>
              <a:t>re</a:t>
            </a:r>
          </a:p>
          <a:p>
            <a:r>
              <a:rPr lang="en-US" altLang="ko-KR" sz="1000" dirty="0" smtClean="0"/>
              <a:t>#</a:t>
            </a:r>
            <a:r>
              <a:rPr lang="ko-KR" altLang="en-US" sz="1000" dirty="0" err="1" smtClean="0"/>
              <a:t>이메일</a:t>
            </a:r>
            <a:r>
              <a:rPr lang="ko-KR" altLang="en-US" sz="1000" dirty="0" smtClean="0"/>
              <a:t> 주소에 대한 패턴인식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m = 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(r'(\w+)@(\w+)\.(\w+)','username@hackerrank.com</a:t>
            </a:r>
            <a:r>
              <a:rPr lang="en-US" altLang="ko-KR" sz="1000" dirty="0" smtClean="0"/>
              <a:t>')</a:t>
            </a:r>
          </a:p>
          <a:p>
            <a:endParaRPr lang="en-US" altLang="ko-KR" sz="1000" dirty="0"/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</a:t>
            </a:r>
            <a:r>
              <a:rPr lang="en-US" altLang="ko-KR" sz="1000" dirty="0"/>
              <a:t>(0)       # </a:t>
            </a:r>
            <a:r>
              <a:rPr lang="ko-KR" altLang="en-US" sz="1000" dirty="0" smtClean="0"/>
              <a:t>전체 매칭된 결과를 보여줌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</a:t>
            </a:r>
            <a:r>
              <a:rPr lang="en-US" altLang="ko-KR" sz="1000" dirty="0"/>
              <a:t>(1)       # The first parenthesized subgroup.</a:t>
            </a:r>
          </a:p>
          <a:p>
            <a:endParaRPr lang="en-US" altLang="ko-KR" sz="1000" dirty="0"/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</a:t>
            </a:r>
            <a:r>
              <a:rPr lang="en-US" altLang="ko-KR" sz="1000" dirty="0"/>
              <a:t>(2)       # The second parenthesized subgroup.</a:t>
            </a:r>
          </a:p>
          <a:p>
            <a:endParaRPr lang="en-US" altLang="ko-KR" sz="1000" dirty="0"/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</a:t>
            </a:r>
            <a:r>
              <a:rPr lang="en-US" altLang="ko-KR" sz="1000" dirty="0"/>
              <a:t>(3)       # The third parenthesized subgroup.</a:t>
            </a:r>
          </a:p>
          <a:p>
            <a:endParaRPr lang="en-US" altLang="ko-KR" sz="1000" dirty="0"/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</a:t>
            </a:r>
            <a:r>
              <a:rPr lang="en-US" altLang="ko-KR" sz="1000" dirty="0"/>
              <a:t>(1,2,3)   # Multiple arguments give us a tuple.</a:t>
            </a:r>
          </a:p>
          <a:p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5436096" y="3861048"/>
            <a:ext cx="25922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결과값</a:t>
            </a:r>
            <a:endParaRPr lang="en-US" altLang="ko-KR" dirty="0" smtClean="0"/>
          </a:p>
          <a:p>
            <a:r>
              <a:rPr lang="sv-SE" altLang="ko-KR" sz="1200" dirty="0"/>
              <a:t>username@hackerrank.com</a:t>
            </a:r>
          </a:p>
          <a:p>
            <a:r>
              <a:rPr lang="sv-SE" altLang="ko-KR" sz="1200" dirty="0"/>
              <a:t>username</a:t>
            </a:r>
          </a:p>
          <a:p>
            <a:r>
              <a:rPr lang="sv-SE" altLang="ko-KR" sz="1200" dirty="0"/>
              <a:t>hackerrank</a:t>
            </a:r>
          </a:p>
          <a:p>
            <a:r>
              <a:rPr lang="sv-SE" altLang="ko-KR" sz="1200" dirty="0"/>
              <a:t>com</a:t>
            </a:r>
          </a:p>
          <a:p>
            <a:r>
              <a:rPr lang="sv-SE" altLang="ko-KR" sz="1200" dirty="0"/>
              <a:t>('username', 'hackerrank', 'com')</a:t>
            </a:r>
          </a:p>
        </p:txBody>
      </p:sp>
    </p:spTree>
    <p:extLst>
      <p:ext uri="{BB962C8B-B14F-4D97-AF65-F5344CB8AC3E}">
        <p14:creationId xmlns:p14="http://schemas.microsoft.com/office/powerpoint/2010/main" xmlns="" val="32668551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match object </a:t>
            </a:r>
            <a:r>
              <a:rPr lang="en-US" altLang="ko-KR" b="1" dirty="0" smtClean="0"/>
              <a:t>:groups </a:t>
            </a:r>
            <a:r>
              <a:rPr lang="ko-KR" altLang="en-US" b="1" dirty="0" err="1" smtClean="0"/>
              <a:t>메소드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23528" y="908720"/>
            <a:ext cx="8229600" cy="122413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/>
              <a:t>Match, search </a:t>
            </a:r>
            <a:r>
              <a:rPr lang="ko-KR" altLang="en-US" sz="2800" dirty="0" smtClean="0"/>
              <a:t>함수를 실행해서 만들어진 </a:t>
            </a:r>
            <a:r>
              <a:rPr lang="en-US" altLang="ko-KR" sz="2800" dirty="0" smtClean="0"/>
              <a:t>match object</a:t>
            </a:r>
            <a:r>
              <a:rPr lang="ko-KR" altLang="en-US" sz="2800" dirty="0" smtClean="0"/>
              <a:t>의 </a:t>
            </a:r>
            <a:r>
              <a:rPr lang="en-US" altLang="ko-KR" sz="2800" dirty="0" smtClean="0"/>
              <a:t>groups() </a:t>
            </a:r>
            <a:r>
              <a:rPr lang="ko-KR" altLang="en-US" sz="2800" dirty="0" err="1" smtClean="0"/>
              <a:t>메소드</a:t>
            </a:r>
            <a:r>
              <a:rPr lang="ko-KR" altLang="en-US" sz="2800" dirty="0" smtClean="0"/>
              <a:t> 처리</a:t>
            </a:r>
            <a:endParaRPr lang="en-US" altLang="ko-KR" sz="2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467544" y="2564904"/>
            <a:ext cx="4536504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import </a:t>
            </a:r>
            <a:r>
              <a:rPr lang="en-US" altLang="ko-KR" sz="1000" dirty="0" smtClean="0"/>
              <a:t>re</a:t>
            </a:r>
          </a:p>
          <a:p>
            <a:r>
              <a:rPr lang="en-US" altLang="ko-KR" sz="1000" dirty="0" smtClean="0"/>
              <a:t>#</a:t>
            </a:r>
            <a:r>
              <a:rPr lang="ko-KR" altLang="en-US" sz="1000" dirty="0" err="1" smtClean="0"/>
              <a:t>이메일</a:t>
            </a:r>
            <a:r>
              <a:rPr lang="ko-KR" altLang="en-US" sz="1000" dirty="0" smtClean="0"/>
              <a:t> 주소에 대한 패턴인식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m = 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(r'(\w+)@(\w+)\.(\w+)','username@hackerrank.com')</a:t>
            </a:r>
          </a:p>
          <a:p>
            <a:r>
              <a:rPr lang="en-US" altLang="ko-KR" sz="1000" dirty="0"/>
              <a:t>p</a:t>
            </a:r>
            <a:r>
              <a:rPr lang="en-US" altLang="ko-KR" sz="1000" dirty="0" smtClean="0"/>
              <a:t>rint </a:t>
            </a:r>
            <a:r>
              <a:rPr lang="en-US" altLang="ko-KR" sz="1000" dirty="0" err="1" smtClean="0"/>
              <a:t>m.groups</a:t>
            </a:r>
            <a:r>
              <a:rPr lang="en-US" altLang="ko-KR" sz="1000" dirty="0"/>
              <a:t>()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5436096" y="3789040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결과값</a:t>
            </a:r>
            <a:endParaRPr lang="en-US" altLang="ko-KR" dirty="0" smtClean="0"/>
          </a:p>
          <a:p>
            <a:r>
              <a:rPr lang="sv-SE" altLang="ko-KR" sz="1200" dirty="0"/>
              <a:t>('username', 'hackerrank', 'com')</a:t>
            </a:r>
          </a:p>
        </p:txBody>
      </p:sp>
    </p:spTree>
    <p:extLst>
      <p:ext uri="{BB962C8B-B14F-4D97-AF65-F5344CB8AC3E}">
        <p14:creationId xmlns:p14="http://schemas.microsoft.com/office/powerpoint/2010/main" xmlns="" val="13748213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match object </a:t>
            </a:r>
            <a:r>
              <a:rPr lang="en-US" altLang="ko-KR" b="1" dirty="0" smtClean="0"/>
              <a:t>:</a:t>
            </a:r>
            <a:r>
              <a:rPr lang="en-US" altLang="ko-KR" b="1" dirty="0" err="1" smtClean="0"/>
              <a:t>groupdict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메소드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23528" y="980728"/>
            <a:ext cx="8229600" cy="208823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600" dirty="0" smtClean="0">
                <a:latin typeface="+mn-ea"/>
              </a:rPr>
              <a:t>Match, search </a:t>
            </a:r>
            <a:r>
              <a:rPr lang="ko-KR" altLang="en-US" sz="1600" dirty="0" smtClean="0">
                <a:latin typeface="+mn-ea"/>
              </a:rPr>
              <a:t>함수를 실행해서 만들어진 </a:t>
            </a:r>
            <a:r>
              <a:rPr lang="en-US" altLang="ko-KR" sz="1600" dirty="0" smtClean="0">
                <a:latin typeface="+mn-ea"/>
              </a:rPr>
              <a:t>match object</a:t>
            </a:r>
            <a:r>
              <a:rPr lang="ko-KR" altLang="en-US" sz="1600" dirty="0" smtClean="0">
                <a:latin typeface="+mn-ea"/>
              </a:rPr>
              <a:t>의 </a:t>
            </a:r>
            <a:r>
              <a:rPr lang="en-US" altLang="ko-KR" sz="1600" dirty="0" err="1" smtClean="0">
                <a:latin typeface="+mn-ea"/>
              </a:rPr>
              <a:t>groupdict</a:t>
            </a:r>
            <a:r>
              <a:rPr lang="en-US" altLang="ko-KR" sz="1600" dirty="0" smtClean="0">
                <a:latin typeface="+mn-ea"/>
              </a:rPr>
              <a:t>() </a:t>
            </a:r>
            <a:r>
              <a:rPr lang="ko-KR" altLang="en-US" sz="1600" dirty="0" err="1" smtClean="0">
                <a:latin typeface="+mn-ea"/>
              </a:rPr>
              <a:t>메소드</a:t>
            </a:r>
            <a:r>
              <a:rPr lang="ko-KR" altLang="en-US" sz="1600" dirty="0" smtClean="0">
                <a:latin typeface="+mn-ea"/>
              </a:rPr>
              <a:t> 처리</a:t>
            </a:r>
            <a:endParaRPr lang="en-US" altLang="ko-KR" sz="1600" dirty="0" smtClean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600" dirty="0" smtClean="0">
                <a:latin typeface="+mn-ea"/>
                <a:sym typeface="Wingdings" panose="05000000000000000000" pitchFamily="2" charset="2"/>
              </a:rPr>
              <a:t> Group</a:t>
            </a:r>
            <a:r>
              <a:rPr lang="ko-KR" altLang="en-US" sz="1600" dirty="0" smtClean="0">
                <a:latin typeface="+mn-ea"/>
                <a:sym typeface="Wingdings" panose="05000000000000000000" pitchFamily="2" charset="2"/>
              </a:rPr>
              <a:t>을 </a:t>
            </a:r>
            <a:r>
              <a:rPr lang="ko-KR" altLang="en-US" sz="1600" dirty="0" err="1" smtClean="0">
                <a:latin typeface="+mn-ea"/>
                <a:sym typeface="Wingdings" panose="05000000000000000000" pitchFamily="2" charset="2"/>
              </a:rPr>
              <a:t>정의시</a:t>
            </a:r>
            <a:r>
              <a:rPr lang="ko-KR" altLang="en-US" sz="1600" dirty="0" smtClean="0">
                <a:latin typeface="+mn-ea"/>
                <a:sym typeface="Wingdings" panose="05000000000000000000" pitchFamily="2" charset="2"/>
              </a:rPr>
              <a:t> 그룹에 대한 </a:t>
            </a:r>
            <a:r>
              <a:rPr lang="en-US" altLang="ko-KR" sz="1600" dirty="0" smtClean="0">
                <a:latin typeface="+mn-ea"/>
                <a:sym typeface="Wingdings" panose="05000000000000000000" pitchFamily="2" charset="2"/>
              </a:rPr>
              <a:t>name</a:t>
            </a:r>
            <a:r>
              <a:rPr lang="ko-KR" altLang="en-US" sz="1600" dirty="0" smtClean="0">
                <a:latin typeface="+mn-ea"/>
                <a:sym typeface="Wingdings" panose="05000000000000000000" pitchFamily="2" charset="2"/>
              </a:rPr>
              <a:t>를 부여해야 함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7544" y="2060848"/>
            <a:ext cx="4536504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import </a:t>
            </a:r>
            <a:r>
              <a:rPr lang="en-US" altLang="ko-KR" sz="1000" dirty="0" smtClean="0"/>
              <a:t>re</a:t>
            </a:r>
          </a:p>
          <a:p>
            <a:r>
              <a:rPr lang="en-US" altLang="ko-KR" sz="1000" dirty="0" smtClean="0"/>
              <a:t>#</a:t>
            </a:r>
            <a:r>
              <a:rPr lang="ko-KR" altLang="en-US" sz="1000" dirty="0" err="1" smtClean="0"/>
              <a:t>이메일</a:t>
            </a:r>
            <a:r>
              <a:rPr lang="ko-KR" altLang="en-US" sz="1000" dirty="0" smtClean="0"/>
              <a:t> 주소에 대한 패턴인식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m = </a:t>
            </a:r>
            <a:r>
              <a:rPr lang="en-US" altLang="ko-KR" sz="1000" dirty="0" err="1"/>
              <a:t>re.match</a:t>
            </a:r>
            <a:r>
              <a:rPr lang="en-US" altLang="ko-KR" sz="1000" dirty="0"/>
              <a:t>(r'(?P&lt;user&gt;\w+)@(?P&lt;website&gt;\w+)\.(?P&lt;extension&gt;\w+)','myname@hackerrank.com')</a:t>
            </a:r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m.groupdict</a:t>
            </a:r>
            <a:r>
              <a:rPr lang="en-US" altLang="ko-KR" sz="1000" dirty="0"/>
              <a:t>()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5364088" y="2492896"/>
            <a:ext cx="2592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결과값</a:t>
            </a:r>
            <a:endParaRPr lang="en-US" altLang="ko-KR" dirty="0" smtClean="0"/>
          </a:p>
          <a:p>
            <a:r>
              <a:rPr lang="sv-SE" altLang="ko-KR" sz="1200" dirty="0"/>
              <a:t>{'website': 'hackerrank', 'user': 'myname', 'extension': 'com'}</a:t>
            </a:r>
          </a:p>
        </p:txBody>
      </p:sp>
    </p:spTree>
    <p:extLst>
      <p:ext uri="{BB962C8B-B14F-4D97-AF65-F5344CB8AC3E}">
        <p14:creationId xmlns:p14="http://schemas.microsoft.com/office/powerpoint/2010/main" xmlns="" val="14051571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match object </a:t>
            </a:r>
            <a:r>
              <a:rPr lang="en-US" altLang="ko-KR" b="1" dirty="0" smtClean="0"/>
              <a:t>:start/end/span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8229600" cy="10801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800" dirty="0" smtClean="0"/>
              <a:t>Match, search </a:t>
            </a:r>
            <a:r>
              <a:rPr lang="ko-KR" altLang="en-US" sz="2800" dirty="0" smtClean="0"/>
              <a:t>함수를 실행해서 만들어진 </a:t>
            </a:r>
            <a:r>
              <a:rPr lang="en-US" altLang="ko-KR" sz="2800" dirty="0" smtClean="0"/>
              <a:t>match object</a:t>
            </a:r>
            <a:r>
              <a:rPr lang="ko-KR" altLang="en-US" sz="2800" dirty="0" smtClean="0"/>
              <a:t>의 매칭된 인덱스를 제공하는 </a:t>
            </a:r>
            <a:r>
              <a:rPr lang="ko-KR" altLang="en-US" sz="2800" dirty="0" err="1" smtClean="0"/>
              <a:t>메소드</a:t>
            </a:r>
            <a:endParaRPr lang="en-US" altLang="ko-KR" sz="28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611560" y="3284984"/>
            <a:ext cx="4536504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import </a:t>
            </a:r>
            <a:r>
              <a:rPr lang="en-US" altLang="ko-KR" sz="1000" dirty="0" smtClean="0"/>
              <a:t>re</a:t>
            </a:r>
          </a:p>
          <a:p>
            <a:r>
              <a:rPr lang="en-US" altLang="ko-KR" sz="1000" dirty="0" smtClean="0"/>
              <a:t>#</a:t>
            </a:r>
            <a:r>
              <a:rPr lang="ko-KR" altLang="en-US" sz="1000" dirty="0" err="1" smtClean="0"/>
              <a:t>이메일</a:t>
            </a:r>
            <a:r>
              <a:rPr lang="ko-KR" altLang="en-US" sz="1000" dirty="0" smtClean="0"/>
              <a:t> 주소에 대한 패턴인식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m = </a:t>
            </a:r>
            <a:r>
              <a:rPr lang="en-US" altLang="ko-KR" sz="1000" dirty="0" err="1"/>
              <a:t>re.search</a:t>
            </a:r>
            <a:r>
              <a:rPr lang="en-US" altLang="ko-KR" sz="1000" dirty="0"/>
              <a:t>(r'\d+','1234')</a:t>
            </a:r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m.end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print </a:t>
            </a:r>
            <a:r>
              <a:rPr lang="en-US" altLang="ko-KR" sz="1000" dirty="0" err="1"/>
              <a:t>m.start</a:t>
            </a:r>
            <a:r>
              <a:rPr lang="en-US" altLang="ko-KR" sz="1000" dirty="0" smtClean="0"/>
              <a:t>()</a:t>
            </a:r>
          </a:p>
          <a:p>
            <a:r>
              <a:rPr lang="en-US" altLang="ko-KR" sz="1000" dirty="0"/>
              <a:t>p</a:t>
            </a:r>
            <a:r>
              <a:rPr lang="en-US" altLang="ko-KR" sz="1000" dirty="0" smtClean="0"/>
              <a:t>rint </a:t>
            </a:r>
            <a:r>
              <a:rPr lang="en-US" altLang="ko-KR" sz="1000" dirty="0" err="1" smtClean="0"/>
              <a:t>m.span</a:t>
            </a:r>
            <a:r>
              <a:rPr lang="en-US" altLang="ko-KR" sz="1000" dirty="0" smtClean="0"/>
              <a:t>()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5580112" y="3789040"/>
            <a:ext cx="25922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결과값</a:t>
            </a:r>
            <a:endParaRPr lang="en-US" altLang="ko-KR" dirty="0" smtClean="0"/>
          </a:p>
          <a:p>
            <a:r>
              <a:rPr lang="sv-SE" altLang="ko-KR" sz="1200" dirty="0"/>
              <a:t>4</a:t>
            </a:r>
          </a:p>
          <a:p>
            <a:r>
              <a:rPr lang="sv-SE" altLang="ko-KR" sz="1200" dirty="0" smtClean="0"/>
              <a:t>0</a:t>
            </a:r>
          </a:p>
          <a:p>
            <a:r>
              <a:rPr lang="sv-SE" altLang="ko-KR" sz="1200" dirty="0"/>
              <a:t>(0, 4)</a:t>
            </a:r>
          </a:p>
          <a:p>
            <a:endParaRPr lang="sv-SE" altLang="ko-KR" sz="1200" dirty="0"/>
          </a:p>
        </p:txBody>
      </p:sp>
    </p:spTree>
    <p:extLst>
      <p:ext uri="{BB962C8B-B14F-4D97-AF65-F5344CB8AC3E}">
        <p14:creationId xmlns:p14="http://schemas.microsoft.com/office/powerpoint/2010/main" xmlns="" val="41996684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자주 사용하는 문자 클래스</a:t>
            </a:r>
            <a:endParaRPr lang="ko-KR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>
                <a:latin typeface="+mn-ea"/>
              </a:rPr>
              <a:t>Snort</a:t>
            </a:r>
            <a:r>
              <a:rPr lang="ko-KR" altLang="en-US" dirty="0" smtClean="0">
                <a:latin typeface="+mn-ea"/>
              </a:rPr>
              <a:t>의 이해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정규식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pcre</a:t>
            </a:r>
            <a:r>
              <a:rPr lang="en-US" altLang="ko-KR" dirty="0" smtClean="0"/>
              <a:t>: “ /</a:t>
            </a:r>
            <a:r>
              <a:rPr lang="ko-KR" altLang="en-US" dirty="0" err="1" smtClean="0"/>
              <a:t>정규표현식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Ui</a:t>
            </a:r>
            <a:r>
              <a:rPr lang="en-US" altLang="ko-KR" dirty="0" smtClean="0"/>
              <a:t>”</a:t>
            </a:r>
          </a:p>
          <a:p>
            <a:r>
              <a:rPr lang="en-US" altLang="ko-KR" dirty="0" err="1" smtClean="0"/>
              <a:t>prce</a:t>
            </a:r>
            <a:r>
              <a:rPr lang="en-US" altLang="ko-KR" dirty="0" smtClean="0"/>
              <a:t> : “/</a:t>
            </a:r>
            <a:r>
              <a:rPr lang="ko-KR" altLang="en-US" dirty="0" err="1" smtClean="0"/>
              <a:t>정규표현식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Ui</a:t>
            </a:r>
            <a:r>
              <a:rPr lang="en-US" altLang="ko-KR" dirty="0" smtClean="0"/>
              <a:t>”</a:t>
            </a:r>
          </a:p>
          <a:p>
            <a:r>
              <a:rPr lang="en-US" altLang="ko-KR" dirty="0" err="1" smtClean="0"/>
              <a:t>Prce</a:t>
            </a:r>
            <a:r>
              <a:rPr lang="en-US" altLang="ko-KR" dirty="0" smtClean="0"/>
              <a:t> : “/</a:t>
            </a:r>
            <a:r>
              <a:rPr lang="ko-KR" altLang="en-US" dirty="0" err="1" smtClean="0"/>
              <a:t>정규표현식</a:t>
            </a:r>
            <a:r>
              <a:rPr lang="en-US" altLang="ko-KR" dirty="0" smtClean="0"/>
              <a:t>/M” </a:t>
            </a:r>
          </a:p>
          <a:p>
            <a:pPr lvl="1"/>
            <a:r>
              <a:rPr lang="en-US" altLang="ko-KR" dirty="0" smtClean="0"/>
              <a:t>U: </a:t>
            </a:r>
            <a:r>
              <a:rPr lang="ko-KR" altLang="en-US" dirty="0" err="1" smtClean="0"/>
              <a:t>디코딩한</a:t>
            </a:r>
            <a:r>
              <a:rPr lang="ko-KR" altLang="en-US" dirty="0" smtClean="0"/>
              <a:t> </a:t>
            </a:r>
            <a:r>
              <a:rPr lang="en-US" altLang="ko-KR" dirty="0" smtClean="0"/>
              <a:t>URI</a:t>
            </a:r>
            <a:r>
              <a:rPr lang="ko-KR" altLang="en-US" dirty="0" smtClean="0"/>
              <a:t>와 패턴매치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http_uri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uricontent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M: Http </a:t>
            </a:r>
            <a:r>
              <a:rPr lang="ko-KR" altLang="en-US" dirty="0" err="1" smtClean="0"/>
              <a:t>메소드와</a:t>
            </a:r>
            <a:r>
              <a:rPr lang="ko-KR" altLang="en-US" dirty="0" smtClean="0"/>
              <a:t> 패턴 매치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http_method</a:t>
            </a:r>
            <a:r>
              <a:rPr lang="en-US" altLang="ko-KR" dirty="0" smtClean="0"/>
              <a:t>)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62490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dirty="0" smtClean="0">
                <a:latin typeface="+mn-ea"/>
                <a:ea typeface="+mn-ea"/>
              </a:rPr>
              <a:t>Snort</a:t>
            </a:r>
            <a:r>
              <a:rPr lang="ko-KR" altLang="en-US" sz="2800" b="1" dirty="0" smtClean="0">
                <a:latin typeface="+mn-ea"/>
                <a:ea typeface="+mn-ea"/>
              </a:rPr>
              <a:t>의 이해 </a:t>
            </a:r>
            <a:endParaRPr lang="ko-KR" altLang="en-US" sz="2800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600" b="1" dirty="0" smtClean="0">
                <a:latin typeface="+mn-ea"/>
              </a:rPr>
              <a:t>Snort</a:t>
            </a:r>
            <a:r>
              <a:rPr lang="ko-KR" altLang="en-US" sz="2600" b="1" dirty="0" smtClean="0">
                <a:latin typeface="+mn-ea"/>
              </a:rPr>
              <a:t> </a:t>
            </a:r>
            <a:r>
              <a:rPr lang="ko-KR" altLang="en-US" sz="2600" b="1" dirty="0" err="1" smtClean="0">
                <a:latin typeface="+mn-ea"/>
              </a:rPr>
              <a:t>시그니처</a:t>
            </a:r>
            <a:r>
              <a:rPr lang="ko-KR" altLang="en-US" sz="2600" b="1" dirty="0" smtClean="0">
                <a:latin typeface="+mn-ea"/>
              </a:rPr>
              <a:t> </a:t>
            </a:r>
            <a:r>
              <a:rPr lang="en-US" altLang="ko-KR" sz="2600" b="1" dirty="0" smtClean="0">
                <a:latin typeface="+mn-ea"/>
              </a:rPr>
              <a:t>– </a:t>
            </a:r>
            <a:r>
              <a:rPr lang="ko-KR" altLang="en-US" sz="2600" b="1" dirty="0" err="1" smtClean="0">
                <a:latin typeface="+mn-ea"/>
              </a:rPr>
              <a:t>정규표현식</a:t>
            </a:r>
            <a:r>
              <a:rPr lang="en-US" altLang="ko-KR" sz="2600" b="1" dirty="0" smtClean="0">
                <a:latin typeface="+mn-ea"/>
              </a:rPr>
              <a:t>(PCRE) </a:t>
            </a:r>
            <a:r>
              <a:rPr lang="ko-KR" altLang="en-US" sz="2600" b="1" dirty="0" smtClean="0">
                <a:latin typeface="+mn-ea"/>
              </a:rPr>
              <a:t>옵션 </a:t>
            </a:r>
            <a:endParaRPr lang="en-US" altLang="ko-KR" dirty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r>
              <a:rPr lang="ko-KR" altLang="en-US" sz="2400" dirty="0" smtClean="0">
                <a:latin typeface="+mn-ea"/>
              </a:rPr>
              <a:t>메타문자 이외에 추가 기능을 하는 옵션 제공</a:t>
            </a:r>
            <a:endParaRPr lang="en-US" altLang="ko-KR" sz="2400" dirty="0" smtClean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r>
              <a:rPr lang="ko-KR" altLang="en-US" dirty="0" smtClean="0">
                <a:latin typeface="+mn-ea"/>
              </a:rPr>
              <a:t>메타문자 뒤에 사용</a:t>
            </a:r>
            <a:endParaRPr lang="en-US" altLang="ko-KR" dirty="0" smtClean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ko-KR" dirty="0" smtClean="0">
                <a:latin typeface="+mn-ea"/>
              </a:rPr>
              <a:t>Ex) /</a:t>
            </a:r>
            <a:r>
              <a:rPr lang="en-US" altLang="ko-KR" dirty="0" err="1" smtClean="0">
                <a:latin typeface="+mn-ea"/>
              </a:rPr>
              <a:t>abc</a:t>
            </a:r>
            <a:r>
              <a:rPr lang="en-US" altLang="ko-KR" dirty="0" smtClean="0">
                <a:latin typeface="+mn-ea"/>
              </a:rPr>
              <a:t>/</a:t>
            </a:r>
            <a:r>
              <a:rPr lang="en-US" altLang="ko-KR" dirty="0" err="1" smtClean="0">
                <a:latin typeface="+mn-ea"/>
              </a:rPr>
              <a:t>isx</a:t>
            </a:r>
            <a:endParaRPr lang="en-US" altLang="ko-KR" dirty="0" smtClean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endParaRPr lang="en-US" altLang="ko-KR" sz="24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521299"/>
              </p:ext>
            </p:extLst>
          </p:nvPr>
        </p:nvGraphicFramePr>
        <p:xfrm>
          <a:off x="107504" y="2763664"/>
          <a:ext cx="8928992" cy="174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0"/>
              </a:tblGrid>
              <a:tr h="4493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문자열의 대소문자를 구분하지 않음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S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패턴에 포함된 줄 바꿈 포함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x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패턴에 존재하는 모든 공백 무시 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67074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dirty="0" smtClean="0">
                <a:latin typeface="+mn-ea"/>
                <a:ea typeface="+mn-ea"/>
              </a:rPr>
              <a:t>Snort</a:t>
            </a:r>
            <a:r>
              <a:rPr lang="ko-KR" altLang="en-US" sz="2800" b="1" dirty="0" smtClean="0">
                <a:latin typeface="+mn-ea"/>
                <a:ea typeface="+mn-ea"/>
              </a:rPr>
              <a:t>의 이해 </a:t>
            </a:r>
            <a:endParaRPr lang="ko-KR" altLang="en-US" sz="2800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600" b="1" dirty="0" smtClean="0">
                <a:latin typeface="+mn-ea"/>
              </a:rPr>
              <a:t>Snort</a:t>
            </a:r>
            <a:r>
              <a:rPr lang="ko-KR" altLang="en-US" sz="2600" b="1" dirty="0" smtClean="0">
                <a:latin typeface="+mn-ea"/>
              </a:rPr>
              <a:t> </a:t>
            </a:r>
            <a:r>
              <a:rPr lang="ko-KR" altLang="en-US" sz="2600" b="1" dirty="0" err="1" smtClean="0">
                <a:latin typeface="+mn-ea"/>
              </a:rPr>
              <a:t>시그니처</a:t>
            </a:r>
            <a:r>
              <a:rPr lang="ko-KR" altLang="en-US" sz="2600" b="1" dirty="0" smtClean="0">
                <a:latin typeface="+mn-ea"/>
              </a:rPr>
              <a:t> </a:t>
            </a:r>
            <a:r>
              <a:rPr lang="en-US" altLang="ko-KR" sz="2600" b="1" dirty="0" smtClean="0">
                <a:latin typeface="+mn-ea"/>
              </a:rPr>
              <a:t>– </a:t>
            </a:r>
            <a:r>
              <a:rPr lang="ko-KR" altLang="en-US" sz="2600" b="1" dirty="0" err="1" smtClean="0">
                <a:latin typeface="+mn-ea"/>
              </a:rPr>
              <a:t>정규표현식</a:t>
            </a:r>
            <a:r>
              <a:rPr lang="en-US" altLang="ko-KR" sz="2600" b="1" dirty="0" smtClean="0">
                <a:latin typeface="+mn-ea"/>
              </a:rPr>
              <a:t>(PCRE) </a:t>
            </a:r>
            <a:r>
              <a:rPr lang="ko-KR" altLang="en-US" sz="2600" b="1" dirty="0" smtClean="0">
                <a:latin typeface="+mn-ea"/>
              </a:rPr>
              <a:t>옵션 </a:t>
            </a:r>
            <a:endParaRPr lang="en-US" altLang="ko-KR" dirty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Snort </a:t>
            </a:r>
            <a:r>
              <a:rPr lang="ko-KR" altLang="en-US" sz="2400" dirty="0" smtClean="0">
                <a:latin typeface="+mn-ea"/>
              </a:rPr>
              <a:t>엔진에서 별도로 제공하는 옵션 </a:t>
            </a:r>
            <a:endParaRPr lang="en-US" altLang="ko-KR" dirty="0" smtClean="0">
              <a:latin typeface="+mn-ea"/>
            </a:endParaRPr>
          </a:p>
          <a:p>
            <a:pPr lvl="1">
              <a:buFont typeface="Arial" pitchFamily="34" charset="0"/>
              <a:buChar char="•"/>
            </a:pPr>
            <a:endParaRPr lang="en-US" altLang="ko-KR" sz="24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15229784"/>
              </p:ext>
            </p:extLst>
          </p:nvPr>
        </p:nvGraphicFramePr>
        <p:xfrm>
          <a:off x="107504" y="1815020"/>
          <a:ext cx="8928992" cy="42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0"/>
              </a:tblGrid>
              <a:tr h="5338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6416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M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HTTP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000" baseline="0" dirty="0" err="1" smtClean="0">
                          <a:latin typeface="+mn-ea"/>
                          <a:ea typeface="+mn-ea"/>
                        </a:rPr>
                        <a:t>메소드와</a:t>
                      </a:r>
                      <a:r>
                        <a:rPr lang="ko-KR" altLang="en-US" sz="2000" baseline="0" dirty="0" smtClean="0">
                          <a:latin typeface="+mn-ea"/>
                          <a:ea typeface="+mn-ea"/>
                        </a:rPr>
                        <a:t> 패턴 매치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baseline="0" dirty="0" err="1" smtClean="0">
                          <a:latin typeface="+mn-ea"/>
                          <a:ea typeface="+mn-ea"/>
                        </a:rPr>
                        <a:t>http_method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8640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정규화된 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HTTP 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요청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응답 메시지 헤더 정보와 패턴 매치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dirty="0" err="1" smtClean="0">
                          <a:latin typeface="+mn-ea"/>
                          <a:ea typeface="+mn-ea"/>
                        </a:rPr>
                        <a:t>Http_Header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576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P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HTTP 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요청 바디와 매치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dirty="0" err="1" smtClean="0">
                          <a:latin typeface="+mn-ea"/>
                          <a:ea typeface="+mn-ea"/>
                        </a:rPr>
                        <a:t>http_client_body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467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U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>
                          <a:latin typeface="+mn-ea"/>
                          <a:ea typeface="+mn-ea"/>
                        </a:rPr>
                        <a:t>디코딩한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URI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와 패턴 매치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dirty="0" err="1" smtClean="0">
                          <a:latin typeface="+mn-ea"/>
                          <a:ea typeface="+mn-ea"/>
                        </a:rPr>
                        <a:t>http_uri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000" baseline="0" dirty="0" err="1" smtClean="0">
                          <a:latin typeface="+mn-ea"/>
                          <a:ea typeface="+mn-ea"/>
                        </a:rPr>
                        <a:t>uriconntent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612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S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HTTP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000" baseline="0" dirty="0" smtClean="0">
                          <a:latin typeface="+mn-ea"/>
                          <a:ea typeface="+mn-ea"/>
                        </a:rPr>
                        <a:t>응답 코드와 패턴 매치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baseline="0" dirty="0" err="1" smtClean="0">
                          <a:latin typeface="+mn-ea"/>
                          <a:ea typeface="+mn-ea"/>
                        </a:rPr>
                        <a:t>Http_stat_Code</a:t>
                      </a:r>
                      <a:r>
                        <a:rPr lang="en-US" altLang="ko-KR" sz="2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576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HTTP </a:t>
                      </a:r>
                      <a:r>
                        <a:rPr lang="ko-KR" altLang="en-US" sz="2000" dirty="0" smtClean="0">
                          <a:latin typeface="+mn-ea"/>
                          <a:ea typeface="+mn-ea"/>
                        </a:rPr>
                        <a:t>응답 상태 메시지와 패턴 매치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dirty="0" err="1" smtClean="0">
                          <a:latin typeface="+mn-ea"/>
                          <a:ea typeface="+mn-ea"/>
                        </a:rPr>
                        <a:t>http_stat_msg</a:t>
                      </a:r>
                      <a:r>
                        <a:rPr lang="en-US" altLang="ko-KR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3933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dirty="0" smtClean="0">
                <a:latin typeface="+mn-ea"/>
                <a:ea typeface="+mn-ea"/>
              </a:rPr>
              <a:t>Snort</a:t>
            </a:r>
            <a:r>
              <a:rPr lang="ko-KR" altLang="en-US" sz="2800" b="1" dirty="0" smtClean="0">
                <a:latin typeface="+mn-ea"/>
                <a:ea typeface="+mn-ea"/>
              </a:rPr>
              <a:t>의 이해 </a:t>
            </a:r>
            <a:endParaRPr lang="ko-KR" altLang="en-US" sz="2800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정규식을 이용한 탐지 예제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alert </a:t>
            </a:r>
            <a:r>
              <a:rPr lang="en-US" altLang="ko-KR" dirty="0" err="1" smtClean="0"/>
              <a:t>tcp</a:t>
            </a:r>
            <a:r>
              <a:rPr lang="en-US" altLang="ko-KR" dirty="0" smtClean="0"/>
              <a:t> $EXTERNAL_NET any -&gt; $HOME_NET any (</a:t>
            </a:r>
            <a:r>
              <a:rPr lang="en-US" altLang="ko-KR" dirty="0" err="1" smtClean="0"/>
              <a:t>msg</a:t>
            </a:r>
            <a:r>
              <a:rPr lang="en-US" altLang="ko-KR" dirty="0" smtClean="0"/>
              <a:t>: “Remote OS Command Injection”; </a:t>
            </a:r>
            <a:r>
              <a:rPr lang="en-US" altLang="ko-KR" dirty="0" err="1" smtClean="0"/>
              <a:t>pcre</a:t>
            </a:r>
            <a:r>
              <a:rPr lang="en-US" altLang="ko-KR" dirty="0" smtClean="0"/>
              <a:t>:”/(</a:t>
            </a:r>
            <a:r>
              <a:rPr lang="en-US" altLang="ko-KR" dirty="0" err="1" smtClean="0"/>
              <a:t>cat|ls|chmod</a:t>
            </a:r>
            <a:r>
              <a:rPr lang="en-US" altLang="ko-KR" dirty="0" smtClean="0"/>
              <a:t>}type/</a:t>
            </a:r>
            <a:r>
              <a:rPr lang="en-US" altLang="ko-KR" dirty="0" err="1" smtClean="0"/>
              <a:t>dir</a:t>
            </a:r>
            <a:r>
              <a:rPr lang="en-US" altLang="ko-KR" dirty="0" smtClean="0"/>
              <a:t>/vim</a:t>
            </a:r>
            <a:r>
              <a:rPr lang="en-US" altLang="ko-KR" dirty="0" smtClean="0">
                <a:solidFill>
                  <a:srgbClr val="FF0000"/>
                </a:solidFill>
              </a:rPr>
              <a:t>\x20.*[\x2F\x5c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Ui</a:t>
            </a:r>
            <a:r>
              <a:rPr lang="en-US" altLang="ko-KR" dirty="0" smtClean="0"/>
              <a:t>”; sid:200000005; rev:1)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539552" y="3789040"/>
            <a:ext cx="1398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\x20 : </a:t>
            </a:r>
            <a:r>
              <a:rPr lang="ko-KR" altLang="en-US" dirty="0" smtClean="0">
                <a:solidFill>
                  <a:srgbClr val="FF0000"/>
                </a:solidFill>
              </a:rPr>
              <a:t>공백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324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3971</Words>
  <Application>Microsoft Office PowerPoint</Application>
  <PresentationFormat>화면 슬라이드 쇼(4:3)</PresentationFormat>
  <Paragraphs>910</Paragraphs>
  <Slides>78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79" baseType="lpstr">
      <vt:lpstr>Office 테마</vt:lpstr>
      <vt:lpstr>정 규 식</vt:lpstr>
      <vt:lpstr>정규표현식</vt:lpstr>
      <vt:lpstr>슬라이드 3</vt:lpstr>
      <vt:lpstr>정규 표현식</vt:lpstr>
      <vt:lpstr>정규 표현식</vt:lpstr>
      <vt:lpstr>축약형 문자표현</vt:lpstr>
      <vt:lpstr>축약형 문자표현-세부</vt:lpstr>
      <vt:lpstr>문자 형식과 축약형 매핑</vt:lpstr>
      <vt:lpstr>축약형 문자표현 : 예시</vt:lpstr>
      <vt:lpstr>Anchor (^ / $)</vt:lpstr>
      <vt:lpstr>Anchor 처리 예시</vt:lpstr>
      <vt:lpstr>DOT(.)</vt:lpstr>
      <vt:lpstr>백슬래시(\) 문제</vt:lpstr>
      <vt:lpstr>Alternatives (|,or)</vt:lpstr>
      <vt:lpstr>수량자</vt:lpstr>
      <vt:lpstr>반복 ({m,n})</vt:lpstr>
      <vt:lpstr>반복 (*)</vt:lpstr>
      <vt:lpstr>반복 (+)</vt:lpstr>
      <vt:lpstr>반복 (?)</vt:lpstr>
      <vt:lpstr>non-greedy  (*?, +?, ??)</vt:lpstr>
      <vt:lpstr>Group : 기본</vt:lpstr>
      <vt:lpstr>Grouping 기준</vt:lpstr>
      <vt:lpstr>Grouping(…)</vt:lpstr>
      <vt:lpstr>Grouping(…) 주의사항</vt:lpstr>
      <vt:lpstr>Grouping(…) :예시</vt:lpstr>
      <vt:lpstr>Named Group</vt:lpstr>
      <vt:lpstr>Non-capture : (?: …)</vt:lpstr>
      <vt:lpstr>Group :subexpression</vt:lpstr>
      <vt:lpstr>하위표현패턴</vt:lpstr>
      <vt:lpstr>기존 네임그룹 참조(?P=name)</vt:lpstr>
      <vt:lpstr>주석(?#...)</vt:lpstr>
      <vt:lpstr>전방탐색(?=...)</vt:lpstr>
      <vt:lpstr>부정형전방탐색(?!...)</vt:lpstr>
      <vt:lpstr>후방탐색(?&lt;=...)</vt:lpstr>
      <vt:lpstr>부정형후방탐색(?&lt;!...)</vt:lpstr>
      <vt:lpstr>(?(id/name)yes…|no…)</vt:lpstr>
      <vt:lpstr>패턴변경자</vt:lpstr>
      <vt:lpstr>Grouping(?iLmsux)</vt:lpstr>
      <vt:lpstr>패턴변경자 -1</vt:lpstr>
      <vt:lpstr>패턴변경자 -2</vt:lpstr>
      <vt:lpstr>Re  Module 처리</vt:lpstr>
      <vt:lpstr>정규식  함수 방식 </vt:lpstr>
      <vt:lpstr>정규식 정의 및 실행  </vt:lpstr>
      <vt:lpstr>정규식 처리하기(1/2)</vt:lpstr>
      <vt:lpstr>정규식 처리하기(2/2)</vt:lpstr>
      <vt:lpstr>Compile 함수</vt:lpstr>
      <vt:lpstr>정규표현식 -Compile</vt:lpstr>
      <vt:lpstr>Compile Options- DOTALL, S </vt:lpstr>
      <vt:lpstr>Compile Options-IGNORECASE, I</vt:lpstr>
      <vt:lpstr>Compile Options-MULTILINE, M</vt:lpstr>
      <vt:lpstr>Compile Options-VERBOSE, X</vt:lpstr>
      <vt:lpstr>정규표현식 –Compile 후 검색</vt:lpstr>
      <vt:lpstr>Search/match 함수</vt:lpstr>
      <vt:lpstr>match 함수</vt:lpstr>
      <vt:lpstr>match – match object</vt:lpstr>
      <vt:lpstr>search – match object</vt:lpstr>
      <vt:lpstr>search – named group 처리</vt:lpstr>
      <vt:lpstr>sub 함수</vt:lpstr>
      <vt:lpstr>함수:문자열 수정</vt:lpstr>
      <vt:lpstr>함수: 함수를 이용한 수정</vt:lpstr>
      <vt:lpstr>함수:Greedy vs Non-Greedy</vt:lpstr>
      <vt:lpstr>검색 함수</vt:lpstr>
      <vt:lpstr>findall</vt:lpstr>
      <vt:lpstr>finditer</vt:lpstr>
      <vt:lpstr>패턴 쪼개기 함수</vt:lpstr>
      <vt:lpstr>split</vt:lpstr>
      <vt:lpstr>Match Object 메소드</vt:lpstr>
      <vt:lpstr>match object method</vt:lpstr>
      <vt:lpstr>match object :group 메소드 </vt:lpstr>
      <vt:lpstr>match object :groups 메소드 </vt:lpstr>
      <vt:lpstr>match object :groupdict 메소드 </vt:lpstr>
      <vt:lpstr>match object :start/end/span</vt:lpstr>
      <vt:lpstr>슬라이드 73</vt:lpstr>
      <vt:lpstr>슬라이드 74</vt:lpstr>
      <vt:lpstr>Snort의 이해 - 정규식</vt:lpstr>
      <vt:lpstr>Snort의 이해 </vt:lpstr>
      <vt:lpstr>Snort의 이해 </vt:lpstr>
      <vt:lpstr>Snort의 이해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HPUser_38</dc:creator>
  <cp:lastModifiedBy>seong</cp:lastModifiedBy>
  <cp:revision>34</cp:revision>
  <dcterms:created xsi:type="dcterms:W3CDTF">2017-02-23T00:50:49Z</dcterms:created>
  <dcterms:modified xsi:type="dcterms:W3CDTF">2017-05-29T22:07:27Z</dcterms:modified>
</cp:coreProperties>
</file>